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0.jpg" ContentType="image/jpeg"/>
  <Override PartName="/ppt/media/image11.jpg" ContentType="image/jpeg"/>
  <Override PartName="/ppt/media/image1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24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328" r:id="rId26"/>
    <p:sldId id="331" r:id="rId27"/>
    <p:sldId id="330" r:id="rId28"/>
    <p:sldId id="332" r:id="rId29"/>
    <p:sldId id="333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25" r:id="rId45"/>
    <p:sldId id="326" r:id="rId46"/>
    <p:sldId id="309" r:id="rId47"/>
    <p:sldId id="310" r:id="rId48"/>
    <p:sldId id="311" r:id="rId49"/>
    <p:sldId id="327" r:id="rId50"/>
    <p:sldId id="314" r:id="rId51"/>
    <p:sldId id="315" r:id="rId52"/>
    <p:sldId id="316" r:id="rId53"/>
    <p:sldId id="317" r:id="rId54"/>
    <p:sldId id="318" r:id="rId55"/>
    <p:sldId id="319" r:id="rId5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7" d="100"/>
        <a:sy n="14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B480B-E1F2-439A-9959-601F7C7DC9A2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79DE2-D7A1-4099-A8C2-3EB8CDB4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554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79DE2-D7A1-4099-A8C2-3EB8CDB47B8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746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32500" y="92075"/>
            <a:ext cx="3071749" cy="4794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647" y="98551"/>
            <a:ext cx="8934704" cy="12717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984" y="1672793"/>
            <a:ext cx="7860030" cy="3707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hp/" TargetMode="External"/><Relationship Id="rId7" Type="http://schemas.openxmlformats.org/officeDocument/2006/relationships/hyperlink" Target="https://www.php.net/docs.php" TargetMode="External"/><Relationship Id="rId2" Type="http://schemas.openxmlformats.org/officeDocument/2006/relationships/hyperlink" Target="https://dev.mysql.com/doc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" TargetMode="External"/><Relationship Id="rId5" Type="http://schemas.openxmlformats.org/officeDocument/2006/relationships/hyperlink" Target="https://www.geeksforgeeks.org/php/" TargetMode="External"/><Relationship Id="rId4" Type="http://schemas.openxmlformats.org/officeDocument/2006/relationships/hyperlink" Target="https://www.tutorialspoint.com/ph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" y="838200"/>
            <a:ext cx="70711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Project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" y="1905000"/>
            <a:ext cx="87630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 </a:t>
            </a:r>
            <a:r>
              <a:rPr lang="en-US" sz="54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Tourist And </a:t>
            </a:r>
            <a:r>
              <a:rPr lang="en-US" sz="540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Tourisam</a:t>
            </a:r>
            <a:r>
              <a:rPr lang="en-US" sz="54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Management System</a:t>
            </a:r>
            <a:endParaRPr lang="en-US" sz="5400" b="0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3883856"/>
            <a:ext cx="372249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Group No :- </a:t>
            </a:r>
            <a:r>
              <a:rPr 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34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5524159"/>
            <a:ext cx="24096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Enrollment No :-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44937" y="5386319"/>
            <a:ext cx="323678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24034211065 :- Patel yash .N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859" y="5801158"/>
            <a:ext cx="401904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24034211092 :- Thakor  Jayesh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9" y="221414"/>
            <a:ext cx="8886953" cy="1136592"/>
          </a:xfrm>
          <a:prstGeom prst="rect">
            <a:avLst/>
          </a:prstGeom>
        </p:spPr>
        <p:txBody>
          <a:bodyPr vert="horz" wrap="square" lIns="0" tIns="455040" rIns="0" bIns="0" rtlCol="0">
            <a:spAutoFit/>
          </a:bodyPr>
          <a:lstStyle/>
          <a:p>
            <a:pPr marL="27432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INTRODUCTION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82035" y="6422832"/>
            <a:ext cx="97456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lang="en-US" sz="120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62000" y="2077998"/>
            <a:ext cx="78139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1824722"/>
            <a:ext cx="907662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Tourist and Tourism Management System</a:t>
            </a:r>
            <a:r>
              <a:rPr lang="en-US" dirty="0"/>
              <a:t> is a lightweight web application that connects travelers, tourism service providers (like travel agencies, tour guides, hotels), and administrators to streamline travel planning, tour bookings, and management of tourism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It allows tourists to browse travel packages, book tours, and make secure payments online. Service providers can list their offerings, manage bookings, and communicate with customers in real-time. The admin panel helps monitor system activity, user registrations, payments, and overall performance of the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Goal of the System:</a:t>
            </a:r>
            <a:r>
              <a:rPr lang="en-US" dirty="0"/>
              <a:t> To digitalize travel and tourism services to improve accuracy, speed, and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2466" y="98551"/>
            <a:ext cx="41757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1.1</a:t>
            </a:r>
            <a:r>
              <a:rPr sz="4400" spc="-10" dirty="0"/>
              <a:t> </a:t>
            </a:r>
            <a:r>
              <a:rPr sz="4400" dirty="0"/>
              <a:t>Project </a:t>
            </a:r>
            <a:r>
              <a:rPr sz="4400" spc="-10" dirty="0"/>
              <a:t>Profile</a:t>
            </a:r>
            <a:endParaRPr sz="4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232510"/>
              </p:ext>
            </p:extLst>
          </p:nvPr>
        </p:nvGraphicFramePr>
        <p:xfrm>
          <a:off x="308597" y="895477"/>
          <a:ext cx="8225803" cy="53566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2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5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lang="en-IN"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lang="en-IN" sz="18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lang="en-US" sz="1800" dirty="0">
                          <a:ln w="0"/>
                          <a:solidFill>
                            <a:schemeClr val="bg2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Tourist And </a:t>
                      </a:r>
                      <a:r>
                        <a:rPr lang="en-US" sz="1800" dirty="0" err="1">
                          <a:ln w="0"/>
                          <a:solidFill>
                            <a:schemeClr val="bg2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Tourisam</a:t>
                      </a:r>
                      <a:r>
                        <a:rPr lang="en-US" sz="1800" dirty="0">
                          <a:ln w="0"/>
                          <a:solidFill>
                            <a:schemeClr val="bg2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Management System</a:t>
                      </a:r>
                      <a:endParaRPr lang="en-US" sz="1800" dirty="0">
                        <a:solidFill>
                          <a:schemeClr val="bg2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768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IN" sz="1800" spc="-10">
                          <a:latin typeface="Calibri"/>
                          <a:cs typeface="Calibri"/>
                        </a:rPr>
                        <a:t>Objectives</a:t>
                      </a: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47675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 travel packages, bookings, customers, and payments.</a:t>
                      </a:r>
                    </a:p>
                    <a:p>
                      <a:pPr marL="92075" marR="447675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9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IN" sz="1800" spc="-10">
                          <a:latin typeface="Calibri"/>
                          <a:cs typeface="Calibri"/>
                        </a:rPr>
                        <a:t>Frontend</a:t>
                      </a: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IN" b="1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HTML, CSS, JavaScript, Bootstrap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32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10">
                          <a:latin typeface="Calibri"/>
                          <a:cs typeface="Calibri"/>
                        </a:rPr>
                        <a:t>Backend</a:t>
                      </a: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PHP, MySQL </a:t>
                      </a: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29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10">
                          <a:latin typeface="Calibri"/>
                          <a:cs typeface="Calibri"/>
                        </a:rPr>
                        <a:t>Others</a:t>
                      </a: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Vs code</a:t>
                      </a: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29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>
                          <a:latin typeface="Calibri"/>
                          <a:cs typeface="Calibri"/>
                        </a:rPr>
                        <a:t>Group</a:t>
                      </a:r>
                      <a:r>
                        <a:rPr lang="en-IN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800" spc="-25">
                          <a:latin typeface="Calibri"/>
                          <a:cs typeface="Calibri"/>
                        </a:rPr>
                        <a:t>No</a:t>
                      </a: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spc="-25" dirty="0">
                          <a:latin typeface="Times New Roman"/>
                          <a:cs typeface="Times New Roman"/>
                        </a:rPr>
                        <a:t>34</a:t>
                      </a: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32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>
                          <a:latin typeface="Calibri"/>
                          <a:cs typeface="Calibri"/>
                        </a:rPr>
                        <a:t>Enrollment</a:t>
                      </a:r>
                      <a:r>
                        <a:rPr lang="en-IN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800" spc="-25">
                          <a:latin typeface="Calibri"/>
                          <a:cs typeface="Calibri"/>
                        </a:rPr>
                        <a:t>No.</a:t>
                      </a: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spc="-10" dirty="0">
                          <a:latin typeface="Times New Roman"/>
                          <a:cs typeface="Times New Roman"/>
                        </a:rPr>
                        <a:t>24034211065, 24034211092</a:t>
                      </a: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29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>
                          <a:latin typeface="Calibri"/>
                          <a:cs typeface="Calibri"/>
                        </a:rPr>
                        <a:t>Names</a:t>
                      </a:r>
                      <a:r>
                        <a:rPr lang="en-IN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800">
                          <a:latin typeface="Calibri"/>
                          <a:cs typeface="Calibri"/>
                        </a:rPr>
                        <a:t>of </a:t>
                      </a:r>
                      <a:r>
                        <a:rPr lang="en-IN" sz="1800" spc="-10">
                          <a:latin typeface="Calibri"/>
                          <a:cs typeface="Calibri"/>
                        </a:rPr>
                        <a:t>partners</a:t>
                      </a: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>
                          <a:latin typeface="Times New Roman"/>
                          <a:cs typeface="Times New Roman"/>
                        </a:rPr>
                        <a:t>Patel Yash ,Thakor Jayesh</a:t>
                      </a:r>
                      <a:endParaRPr lang="en-US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32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>
                          <a:latin typeface="Calibri"/>
                          <a:cs typeface="Calibri"/>
                        </a:rPr>
                        <a:t>Company</a:t>
                      </a:r>
                      <a:r>
                        <a:rPr lang="en-IN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800" spc="-20">
                          <a:latin typeface="Calibri"/>
                          <a:cs typeface="Calibri"/>
                        </a:rPr>
                        <a:t>Name</a:t>
                      </a: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IN"/>
                        <a:t>Gujarat TravelTech Solutions Pvt. Ltd.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6389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>
                          <a:latin typeface="Calibri"/>
                          <a:cs typeface="Calibri"/>
                        </a:rPr>
                        <a:t>Company</a:t>
                      </a:r>
                      <a:r>
                        <a:rPr lang="en-IN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800" spc="-10">
                          <a:latin typeface="Calibri"/>
                          <a:cs typeface="Calibri"/>
                        </a:rPr>
                        <a:t>Address</a:t>
                      </a: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1836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IN"/>
                        <a:t>Infocity, Gandhinagar, Gujarat – 382007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29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>
                          <a:latin typeface="Calibri"/>
                          <a:cs typeface="Calibri"/>
                        </a:rPr>
                        <a:t>Internal</a:t>
                      </a:r>
                      <a:r>
                        <a:rPr lang="en-IN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800" spc="-20">
                          <a:latin typeface="Calibri"/>
                          <a:cs typeface="Calibri"/>
                        </a:rPr>
                        <a:t>Guide</a:t>
                      </a:r>
                      <a:endParaRPr lang="en-IN" sz="18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4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lang="en-US" sz="2000" dirty="0" err="1">
                          <a:latin typeface="Times New Roman"/>
                          <a:cs typeface="Times New Roman"/>
                        </a:rPr>
                        <a:t>Mr.Sanjay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Patel</a:t>
                      </a:r>
                    </a:p>
                  </a:txBody>
                  <a:tcPr marL="0" marR="0" marT="3936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 cap="flat" cmpd="sng" algn="ctr">
                      <a:solidFill>
                        <a:srgbClr val="BD4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682" rIns="0" bIns="0" rtlCol="0">
            <a:spAutoFit/>
          </a:bodyPr>
          <a:lstStyle/>
          <a:p>
            <a:pPr marL="132397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1.2</a:t>
            </a:r>
            <a:r>
              <a:rPr sz="4400" spc="-15" dirty="0"/>
              <a:t> </a:t>
            </a:r>
            <a:r>
              <a:rPr sz="4400" dirty="0"/>
              <a:t>About</a:t>
            </a:r>
            <a:r>
              <a:rPr sz="4400" spc="-15" dirty="0"/>
              <a:t> </a:t>
            </a:r>
            <a:r>
              <a:rPr sz="4400" dirty="0"/>
              <a:t>the</a:t>
            </a:r>
            <a:r>
              <a:rPr sz="4400" spc="-15" dirty="0"/>
              <a:t> </a:t>
            </a:r>
            <a:r>
              <a:rPr sz="4400" spc="-10" dirty="0"/>
              <a:t>Organization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1200" spc="-3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6DE47-62F6-1D88-AAFB-D23FB7BCEBA1}"/>
              </a:ext>
            </a:extLst>
          </p:cNvPr>
          <p:cNvSpPr txBox="1"/>
          <p:nvPr/>
        </p:nvSpPr>
        <p:spPr>
          <a:xfrm>
            <a:off x="762000" y="1370278"/>
            <a:ext cx="8153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 Gujarat </a:t>
            </a:r>
            <a:r>
              <a:rPr lang="en-US" dirty="0" err="1"/>
              <a:t>TravelTech</a:t>
            </a:r>
            <a:r>
              <a:rPr lang="en-US" dirty="0"/>
              <a:t> Solutions Pvt. Ltd. is a fast-growing travel and tourism company specializing in customized tour packages and travel management services.</a:t>
            </a:r>
          </a:p>
          <a:p>
            <a:br>
              <a:rPr lang="en-US" dirty="0"/>
            </a:br>
            <a:r>
              <a:rPr lang="en-US" dirty="0"/>
              <a:t>• The company focuses on offering affordable and high-quality travel experiences for customers across various destinations.</a:t>
            </a:r>
          </a:p>
          <a:p>
            <a:br>
              <a:rPr lang="en-US" dirty="0"/>
            </a:br>
            <a:r>
              <a:rPr lang="en-US" dirty="0"/>
              <a:t>• It aims to deliver reliable and comfortable travel solutions with a customer-first approach.</a:t>
            </a:r>
          </a:p>
          <a:p>
            <a:br>
              <a:rPr lang="en-US" dirty="0"/>
            </a:br>
            <a:r>
              <a:rPr lang="en-US" dirty="0"/>
              <a:t>• Gujarat </a:t>
            </a:r>
            <a:r>
              <a:rPr lang="en-US" dirty="0" err="1"/>
              <a:t>TravelTech</a:t>
            </a:r>
            <a:r>
              <a:rPr lang="en-US" dirty="0"/>
              <a:t> ensures a seamless booking and travel experience through digital innovation and efficient service.</a:t>
            </a:r>
          </a:p>
          <a:p>
            <a:br>
              <a:rPr lang="en-US" dirty="0"/>
            </a:br>
            <a:r>
              <a:rPr lang="en-US" dirty="0"/>
              <a:t>• The organization blends tourism expertise with modern technology to simplify tour planning and enhance customer satisfaction.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2342" y="2481452"/>
            <a:ext cx="71189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SYSTEM</a:t>
            </a:r>
            <a:r>
              <a:rPr sz="4400" spc="-40" dirty="0"/>
              <a:t> </a:t>
            </a:r>
            <a:r>
              <a:rPr sz="4400" dirty="0"/>
              <a:t>STUDY</a:t>
            </a:r>
            <a:r>
              <a:rPr sz="4400" spc="-15" dirty="0"/>
              <a:t> </a:t>
            </a:r>
            <a:r>
              <a:rPr sz="4400" dirty="0"/>
              <a:t>AND</a:t>
            </a:r>
            <a:r>
              <a:rPr sz="4400" spc="-20" dirty="0"/>
              <a:t> </a:t>
            </a:r>
            <a:r>
              <a:rPr sz="4400" spc="-10" dirty="0"/>
              <a:t>ANALYSIS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1200" spc="-30" dirty="0">
                <a:solidFill>
                  <a:srgbClr val="888888"/>
                </a:solidFill>
                <a:latin typeface="Calibri"/>
                <a:cs typeface="Calibri"/>
              </a:rPr>
              <a:t>34&gt;</a:t>
            </a:r>
            <a:endParaRPr lang="en-US" sz="1200" dirty="0">
              <a:solidFill>
                <a:srgbClr val="888888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54756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6465" algn="l"/>
              </a:tabLst>
            </a:pPr>
            <a:r>
              <a:rPr sz="4400" spc="-25" dirty="0"/>
              <a:t>2.1</a:t>
            </a:r>
            <a:r>
              <a:rPr sz="4400" dirty="0"/>
              <a:t>	Problem</a:t>
            </a:r>
            <a:r>
              <a:rPr sz="4400" spc="-45" dirty="0"/>
              <a:t> </a:t>
            </a:r>
            <a:r>
              <a:rPr sz="4400" spc="-10" dirty="0"/>
              <a:t>Statement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1200" spc="-3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24681" y="4735562"/>
            <a:ext cx="8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6200" y="1584895"/>
            <a:ext cx="9067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• </a:t>
            </a:r>
            <a:r>
              <a:rPr lang="en-US" dirty="0"/>
              <a:t>With the rapid growth of the travel and tourism industry, there is a need for </a:t>
            </a:r>
            <a:r>
              <a:rPr lang="en-US" b="1" dirty="0"/>
              <a:t>scalable, secure, and user-friendly online platforms</a:t>
            </a:r>
            <a:r>
              <a:rPr lang="en-US" dirty="0"/>
              <a:t> for booking and management.</a:t>
            </a:r>
          </a:p>
          <a:p>
            <a:br>
              <a:rPr lang="en-US" dirty="0"/>
            </a:br>
            <a:r>
              <a:rPr lang="en-US" dirty="0"/>
              <a:t>• Existing travel booking portals are often </a:t>
            </a:r>
            <a:r>
              <a:rPr lang="en-US" b="1" dirty="0"/>
              <a:t>cluttered and difficult to navigate</a:t>
            </a:r>
            <a:r>
              <a:rPr lang="en-US" dirty="0"/>
              <a:t> for users.</a:t>
            </a:r>
          </a:p>
          <a:p>
            <a:br>
              <a:rPr lang="en-US" dirty="0"/>
            </a:br>
            <a:r>
              <a:rPr lang="en-US" dirty="0"/>
              <a:t>• Travel agencies face </a:t>
            </a:r>
            <a:r>
              <a:rPr lang="en-US" b="1" dirty="0"/>
              <a:t>high commission charges and limited brand visibility</a:t>
            </a:r>
            <a:r>
              <a:rPr lang="en-US" dirty="0"/>
              <a:t> on large aggregator platforms.</a:t>
            </a:r>
          </a:p>
          <a:p>
            <a:br>
              <a:rPr lang="en-US" dirty="0"/>
            </a:br>
            <a:r>
              <a:rPr lang="en-US" dirty="0"/>
              <a:t>• There is a </a:t>
            </a:r>
            <a:r>
              <a:rPr lang="en-US" b="1" dirty="0"/>
              <a:t>lack of 24×7 customer support</a:t>
            </a:r>
            <a:r>
              <a:rPr lang="en-US" dirty="0"/>
              <a:t> to assist travelers during their journey.</a:t>
            </a:r>
          </a:p>
          <a:p>
            <a:br>
              <a:rPr lang="en-US" dirty="0"/>
            </a:br>
            <a:r>
              <a:rPr lang="en-US" dirty="0"/>
              <a:t>• Customers do not have access to </a:t>
            </a:r>
            <a:r>
              <a:rPr lang="en-US" b="1" dirty="0"/>
              <a:t>quick query resolution or self-service features</a:t>
            </a:r>
            <a:r>
              <a:rPr lang="en-US" dirty="0"/>
              <a:t> for managing bookings and packages.</a:t>
            </a:r>
          </a:p>
          <a:p>
            <a:br>
              <a:rPr lang="en-US" sz="2400" dirty="0"/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4669" y="461899"/>
            <a:ext cx="45313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7100" algn="l"/>
              </a:tabLst>
            </a:pPr>
            <a:r>
              <a:rPr sz="4400" spc="-25" dirty="0"/>
              <a:t>2.2</a:t>
            </a:r>
            <a:r>
              <a:rPr sz="4400" dirty="0"/>
              <a:t>	Existing</a:t>
            </a:r>
            <a:r>
              <a:rPr sz="4400" spc="-60" dirty="0"/>
              <a:t> </a:t>
            </a:r>
            <a:r>
              <a:rPr sz="4400" spc="-10" dirty="0"/>
              <a:t>System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1200" spc="-3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76200" y="2767280"/>
            <a:ext cx="8991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MakeMyTrip</a:t>
            </a:r>
            <a:r>
              <a:rPr lang="en-US" sz="2000" dirty="0"/>
              <a:t> – A widely used online travel portal offering flights, hotels, and tour packages. However, it charges high commissions and has a cluttered interface.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Yatra</a:t>
            </a:r>
            <a:r>
              <a:rPr lang="en-US" sz="2000" dirty="0"/>
              <a:t> – Provides travel booking services with good coverage but limited customer support and slow query response during busy hours.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/>
              <a:t>Goibibo</a:t>
            </a:r>
            <a:r>
              <a:rPr lang="en-US" sz="2000" dirty="0"/>
              <a:t> – Focuses on fast bookings and discounts but lacks personalization and transparency in additional charges.</a:t>
            </a:r>
          </a:p>
          <a:p>
            <a:pPr marL="457200" indent="-457200">
              <a:buFont typeface="+mj-lt"/>
              <a:buAutoNum type="arabicPeriod"/>
            </a:pPr>
            <a:endParaRPr lang="en-I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682" rIns="0" bIns="0" rtlCol="0">
            <a:spAutoFit/>
          </a:bodyPr>
          <a:lstStyle/>
          <a:p>
            <a:pPr marL="255841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2.2.1</a:t>
            </a:r>
            <a:r>
              <a:rPr sz="4400" spc="-20" dirty="0"/>
              <a:t> </a:t>
            </a:r>
            <a:r>
              <a:rPr sz="4400" spc="-10" dirty="0"/>
              <a:t>Drawbacks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1200" spc="-3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C95ED3A-FA4B-7C3E-D2D5-C51964D0B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92" y="2581364"/>
            <a:ext cx="9144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• </a:t>
            </a:r>
            <a:r>
              <a:rPr lang="en-US" sz="2000" dirty="0"/>
              <a:t>High commission charges on popular travel booking platforms.</a:t>
            </a:r>
            <a:br>
              <a:rPr lang="en-US" sz="2000" dirty="0"/>
            </a:br>
            <a:r>
              <a:rPr lang="en-US" sz="2000" dirty="0"/>
              <a:t>• Slow or limited customer support during trips.</a:t>
            </a:r>
            <a:br>
              <a:rPr lang="en-US" sz="2000" dirty="0"/>
            </a:br>
            <a:r>
              <a:rPr lang="en-US" sz="2000" dirty="0"/>
              <a:t>• Dependence on third-party servers and aggregators.</a:t>
            </a:r>
            <a:br>
              <a:rPr lang="en-US" sz="2000" dirty="0"/>
            </a:br>
            <a:r>
              <a:rPr lang="en-US" sz="2000" dirty="0"/>
              <a:t>• Complicated and cluttered tour search options.</a:t>
            </a:r>
            <a:br>
              <a:rPr lang="en-US" sz="2000" dirty="0"/>
            </a:br>
            <a:r>
              <a:rPr lang="en-US" sz="2000" dirty="0"/>
              <a:t>• Expansion becomes costly for small travel startups.</a:t>
            </a:r>
            <a:br>
              <a:rPr lang="en-US" sz="2000" dirty="0"/>
            </a:br>
            <a:r>
              <a:rPr lang="en-US" sz="2000" dirty="0"/>
              <a:t>• Travel agencies lose their own brand identity on big platforms.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404" y="461899"/>
            <a:ext cx="49485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7100" algn="l"/>
              </a:tabLst>
            </a:pPr>
            <a:r>
              <a:rPr sz="4400" spc="-25" dirty="0"/>
              <a:t>2.3</a:t>
            </a:r>
            <a:r>
              <a:rPr sz="4400" dirty="0"/>
              <a:t>	Proposed</a:t>
            </a:r>
            <a:r>
              <a:rPr sz="4400" spc="-30" dirty="0"/>
              <a:t> </a:t>
            </a:r>
            <a:r>
              <a:rPr sz="4400" spc="-10" dirty="0"/>
              <a:t>System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1200" spc="-3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481" y="1600200"/>
            <a:ext cx="8534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• Travel-only booking and discovery platform.</a:t>
            </a:r>
            <a:br>
              <a:rPr lang="en-US" sz="2000" dirty="0"/>
            </a:br>
            <a:r>
              <a:rPr lang="en-US" sz="2000" dirty="0"/>
              <a:t>• 24×7 AI travel assistant for instant queries and trip support.</a:t>
            </a:r>
            <a:br>
              <a:rPr lang="en-US" sz="2000" dirty="0"/>
            </a:br>
            <a:r>
              <a:rPr lang="en-US" sz="2000" dirty="0"/>
              <a:t>• Smart hybrid recommendation system for personalized tour suggestions.</a:t>
            </a:r>
            <a:br>
              <a:rPr lang="en-US" sz="2000" dirty="0"/>
            </a:br>
            <a:r>
              <a:rPr lang="en-US" sz="2000" dirty="0"/>
              <a:t>• Strong brand identity and better visibility for local travel agencies.</a:t>
            </a:r>
            <a:br>
              <a:rPr lang="en-US" sz="2000" dirty="0"/>
            </a:br>
            <a:r>
              <a:rPr lang="en-US" sz="2000" dirty="0"/>
              <a:t>• Seamless and clutter-free discovery of destinations, packages, and stays.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9327" y="125679"/>
            <a:ext cx="422275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2.3.1</a:t>
            </a:r>
            <a:r>
              <a:rPr sz="4000" spc="-125" dirty="0"/>
              <a:t> </a:t>
            </a:r>
            <a:r>
              <a:rPr sz="4000" dirty="0"/>
              <a:t>Advantages</a:t>
            </a:r>
            <a:r>
              <a:rPr sz="4000" spc="-90" dirty="0"/>
              <a:t> </a:t>
            </a:r>
            <a:r>
              <a:rPr sz="4000" spc="-25" dirty="0"/>
              <a:t>or </a:t>
            </a:r>
            <a:r>
              <a:rPr sz="4000" dirty="0"/>
              <a:t>Comparison</a:t>
            </a:r>
            <a:r>
              <a:rPr sz="4000" spc="-155" dirty="0"/>
              <a:t> </a:t>
            </a:r>
            <a:r>
              <a:rPr sz="4000" spc="-20" dirty="0"/>
              <a:t>Study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1200" spc="-3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B29E09-2ED9-323F-DEA0-AB64A0A54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071463"/>
              </p:ext>
            </p:extLst>
          </p:nvPr>
        </p:nvGraphicFramePr>
        <p:xfrm>
          <a:off x="0" y="1600200"/>
          <a:ext cx="9144000" cy="7223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0433784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899779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08632789"/>
                    </a:ext>
                  </a:extLst>
                </a:gridCol>
              </a:tblGrid>
              <a:tr h="519896"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dirty="0">
                          <a:solidFill>
                            <a:srgbClr val="0D0D0D"/>
                          </a:solidFill>
                          <a:effectLst/>
                        </a:rPr>
                        <a:t>Feature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Existing Travel Platforms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i="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SmartTravel</a:t>
                      </a:r>
                      <a:r>
                        <a:rPr lang="en-IN" b="1" i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Portal (Proposed System)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17326"/>
                  </a:ext>
                </a:extLst>
              </a:tr>
              <a:tr h="965522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Support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or delayed response during peak seasons.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24×7 AI-powered travel assistant with instant query resolution and live trip guidance.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192879"/>
                  </a:ext>
                </a:extLst>
              </a:tr>
              <a:tr h="965522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Reviews &amp; Feedback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Reviews often mixed across destinations and services.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Destination-specific reviews, hotel ratings, and verified traveler Q/A for better decision-making.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262396"/>
                  </a:ext>
                </a:extLst>
              </a:tr>
              <a:tr h="742709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service charges &amp; commission-based structure.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Low-cost, commission-free model ideal for startups and local travel agencies.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569886"/>
                  </a:ext>
                </a:extLst>
              </a:tr>
              <a:tr h="965522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Suggestions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Generic “popular destinations” or trend-based suggestions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 hybrid recommendation engine analyzing user preferences, trip history, and budget.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627581"/>
                  </a:ext>
                </a:extLst>
              </a:tr>
              <a:tr h="742709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Data and bookings controlled by third-party platforms.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control with secure, encrypted data and independent booking management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708035"/>
                  </a:ext>
                </a:extLst>
              </a:tr>
              <a:tr h="222813">
                <a:tc rowSpan="2"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Experience</a:t>
                      </a:r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ase">
                        <a:buNone/>
                      </a:pP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Cluttered and confusing interface with ads.</a:t>
                      </a:r>
                    </a:p>
                  </a:txBody>
                  <a:tcPr marB="18288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21612"/>
                  </a:ext>
                </a:extLst>
              </a:tr>
              <a:tr h="74270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Simple, clean, and clutter-free travel discovery and booking experience.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3093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167" rIns="0" bIns="0" rtlCol="0">
            <a:spAutoFit/>
          </a:bodyPr>
          <a:lstStyle/>
          <a:p>
            <a:pPr marL="281495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2.3.2</a:t>
            </a:r>
            <a:r>
              <a:rPr sz="4400" spc="-30" dirty="0"/>
              <a:t> </a:t>
            </a:r>
            <a:r>
              <a:rPr sz="4400" spc="-10" dirty="0"/>
              <a:t>Modules</a:t>
            </a:r>
            <a:endParaRPr sz="4400"/>
          </a:p>
          <a:p>
            <a:pPr marL="2976245">
              <a:lnSpc>
                <a:spcPct val="100000"/>
              </a:lnSpc>
              <a:spcBef>
                <a:spcPts val="130"/>
              </a:spcBef>
            </a:pPr>
            <a:r>
              <a:rPr sz="2400" dirty="0"/>
              <a:t>(with</a:t>
            </a:r>
            <a:r>
              <a:rPr sz="2400" spc="-50" dirty="0"/>
              <a:t> </a:t>
            </a:r>
            <a:r>
              <a:rPr sz="2400" dirty="0"/>
              <a:t>short</a:t>
            </a:r>
            <a:r>
              <a:rPr sz="2400" spc="-40" dirty="0"/>
              <a:t> </a:t>
            </a:r>
            <a:r>
              <a:rPr sz="2400" spc="-10" dirty="0"/>
              <a:t>description)</a:t>
            </a:r>
            <a:endParaRPr sz="24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54FAE-A102-66D5-12DB-C7C4F213D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647" y="1672793"/>
            <a:ext cx="9039353" cy="4708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User Module</a:t>
            </a:r>
            <a:r>
              <a:rPr lang="en-US" sz="1800" dirty="0"/>
              <a:t> – Handles traveler registration, login, and profile management (personal details, preferences, and past trips).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Destination Module</a:t>
            </a:r>
            <a:r>
              <a:rPr lang="en-US" sz="1800" dirty="0"/>
              <a:t> – Stores and displays detailed information about tourist destinations, hotels, and travel packages.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Booking Module</a:t>
            </a:r>
            <a:r>
              <a:rPr lang="en-US" sz="1800" dirty="0"/>
              <a:t> – Manages trip bookings, cancellations, and itinerary updates for users.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Tour Management Module</a:t>
            </a:r>
            <a:r>
              <a:rPr lang="en-US" sz="1800" dirty="0"/>
              <a:t> – Handles creation of new travel packages, trip schedules, and tour history.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Admin Module</a:t>
            </a:r>
            <a:r>
              <a:rPr lang="en-US" sz="1800" dirty="0"/>
              <a:t> – Allows admin to add/edit/delete destinations, manage bookings, view user feedback, and oversee operations.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Payment Module (Optional)</a:t>
            </a:r>
            <a:r>
              <a:rPr lang="en-US" sz="1800" dirty="0"/>
              <a:t> – Integrates secure online payment gateway for package bookings and ticket reservations.</a:t>
            </a:r>
          </a:p>
          <a:p>
            <a:endParaRPr lang="en-IN" sz="1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1200" spc="-3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57200"/>
            <a:ext cx="7860030" cy="366254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1. Admin Module:</a:t>
            </a:r>
            <a:br>
              <a:rPr lang="en-US" sz="1800" dirty="0"/>
            </a:br>
            <a:r>
              <a:rPr lang="en-US" sz="1800" dirty="0"/>
              <a:t>Manages system settings, package approvals, user activity, and secure booking/payment records.</a:t>
            </a:r>
          </a:p>
          <a:p>
            <a:endParaRPr lang="en-US" sz="1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2. Tourist/User Module:</a:t>
            </a:r>
            <a:br>
              <a:rPr lang="en-US" sz="1800" dirty="0"/>
            </a:br>
            <a:r>
              <a:rPr lang="en-US" sz="1800" dirty="0"/>
              <a:t>Allows users to browse packages, make secure bookings, manage trips, and receive personalized notifications.</a:t>
            </a:r>
          </a:p>
          <a:p>
            <a:endParaRPr lang="en-US" sz="1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3. Operator/Service Provider Module:</a:t>
            </a:r>
            <a:br>
              <a:rPr lang="en-US" sz="1800" dirty="0"/>
            </a:br>
            <a:r>
              <a:rPr lang="en-US" sz="1800" dirty="0"/>
              <a:t>Handles package creation, pricing, availability, customer feedback, and smooth communication with travelers.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32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998" y="2481452"/>
            <a:ext cx="728725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DEVELOPMENT</a:t>
            </a:r>
            <a:r>
              <a:rPr sz="4400" spc="-65" dirty="0"/>
              <a:t> </a:t>
            </a:r>
            <a:r>
              <a:rPr sz="4400" spc="-10" dirty="0"/>
              <a:t>ENVIRONMENT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1200" spc="-3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334" rIns="0" bIns="0" rtlCol="0">
            <a:spAutoFit/>
          </a:bodyPr>
          <a:lstStyle/>
          <a:p>
            <a:pPr marL="227266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3.1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Hardware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Requirement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538673"/>
              </p:ext>
            </p:extLst>
          </p:nvPr>
        </p:nvGraphicFramePr>
        <p:xfrm>
          <a:off x="0" y="1524000"/>
          <a:ext cx="9144000" cy="5333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8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7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5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Server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client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Processor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Intel Core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higher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Intel Core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i5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higher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4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Hard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Disk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TB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higher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512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GB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higher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737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8208" rIns="0" bIns="0" rtlCol="0">
            <a:spAutoFit/>
          </a:bodyPr>
          <a:lstStyle/>
          <a:p>
            <a:pPr marL="217106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3.2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Requirement</a:t>
            </a:r>
            <a:endParaRPr sz="2800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36326"/>
              </p:ext>
            </p:extLst>
          </p:nvPr>
        </p:nvGraphicFramePr>
        <p:xfrm>
          <a:off x="0" y="1869567"/>
          <a:ext cx="9144000" cy="48898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5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4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3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80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Client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9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Platform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en-IN" sz="1600" dirty="0"/>
                        <a:t>PHP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IN" sz="1400" dirty="0"/>
                        <a:t>Web Browser (HTML, CSS, JavaScript)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19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Operating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en-US" sz="1600" dirty="0"/>
                        <a:t>Windows / Linux (Any with PHP)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Operating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0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Server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Apache / Nginx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832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Chrome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Latest Browser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3687" rIns="0" bIns="0" rtlCol="0">
            <a:spAutoFit/>
          </a:bodyPr>
          <a:lstStyle/>
          <a:p>
            <a:pPr marL="153098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3.3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Programming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Environment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8183" y="1423796"/>
            <a:ext cx="835279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175" indent="-28575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8417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Frontend: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  <a:spcBef>
                <a:spcPts val="100"/>
              </a:spcBef>
              <a:tabLst>
                <a:tab pos="384175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265F2B-B577-2F6D-22FA-349BB7647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01" y="2207681"/>
            <a:ext cx="903935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Provides styling, color themes, and responsive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Adds interactivity and dynamic functionality for a better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Bootstrap/Tailwind CSS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Ensures mobile responsiveness and provides pre-built 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Structures the layout of the user interface, including menus, forms, and panels.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6491" y="536828"/>
            <a:ext cx="163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270" indent="-36957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8227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Backend: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D5EBDE8-E1A2-99A2-747C-6A99B8A11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36" y="1600200"/>
            <a:ext cx="88392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Relational database used to store and manage data (e.g., tourist details, bookings, transactions).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Web Server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Handles HTTP requests and serves PHP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XAMPP/WAMP/LAMP (optional)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Local development environment for PHP and MySQL.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Server-side scripting language used to handle business logic, process requests, and connect with the database.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2832" y="2146173"/>
            <a:ext cx="495808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215" marR="5080" indent="-69215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SYSTEM</a:t>
            </a:r>
            <a:r>
              <a:rPr sz="4400" spc="-35" dirty="0"/>
              <a:t> </a:t>
            </a:r>
            <a:r>
              <a:rPr sz="4400" dirty="0"/>
              <a:t>DESIGN</a:t>
            </a:r>
            <a:r>
              <a:rPr sz="4400" spc="-10" dirty="0"/>
              <a:t> </a:t>
            </a:r>
            <a:r>
              <a:rPr sz="4400" spc="-25" dirty="0"/>
              <a:t>AND </a:t>
            </a:r>
            <a:r>
              <a:rPr sz="4400" spc="-10" dirty="0"/>
              <a:t>DEVELOPMENT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8278" y="6426504"/>
            <a:ext cx="16478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&gt;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862" rIns="0" bIns="0" rtlCol="0">
            <a:spAutoFit/>
          </a:bodyPr>
          <a:lstStyle/>
          <a:p>
            <a:pPr marL="250888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4.1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Time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line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chart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68638"/>
            <a:ext cx="9144000" cy="56893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8790" rIns="0" bIns="0" rtlCol="0">
            <a:spAutoFit/>
          </a:bodyPr>
          <a:lstStyle/>
          <a:p>
            <a:pPr marL="2843530">
              <a:lnSpc>
                <a:spcPct val="100000"/>
              </a:lnSpc>
              <a:spcBef>
                <a:spcPts val="105"/>
              </a:spcBef>
            </a:pPr>
            <a:r>
              <a:rPr dirty="0"/>
              <a:t>4.2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10" dirty="0"/>
              <a:t>Dictionary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159" y="1624703"/>
            <a:ext cx="2477135" cy="6700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latin typeface="Times New Roman"/>
                <a:cs typeface="Times New Roman"/>
              </a:rPr>
              <a:t>[1]Admin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lang="en-IN" sz="1800" spc="-20" dirty="0">
                <a:latin typeface="Times New Roman"/>
                <a:cs typeface="Times New Roman"/>
              </a:rPr>
              <a:t>Login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dirty="0">
                <a:latin typeface="Times New Roman"/>
                <a:cs typeface="Times New Roman"/>
              </a:rPr>
              <a:t>Table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name:-</a:t>
            </a:r>
            <a:r>
              <a:rPr sz="1800" dirty="0">
                <a:latin typeface="Times New Roman"/>
                <a:cs typeface="Times New Roman"/>
              </a:rPr>
              <a:t>Admin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Login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2BBB53-F94D-3E18-527B-168148D07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9182"/>
            <a:ext cx="9144000" cy="43088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6542" y="835913"/>
            <a:ext cx="2002789" cy="6781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latin typeface="Times New Roman"/>
                <a:cs typeface="Times New Roman"/>
              </a:rPr>
              <a:t>[2]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lang="en-US" sz="1800" spc="-35" dirty="0">
                <a:latin typeface="Times New Roman"/>
                <a:cs typeface="Times New Roman"/>
              </a:rPr>
              <a:t> Login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imes New Roman"/>
                <a:cs typeface="Times New Roman"/>
              </a:rPr>
              <a:t>Table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name:-</a:t>
            </a:r>
            <a:r>
              <a:rPr lang="en-US" spc="-10" dirty="0">
                <a:latin typeface="Times New Roman"/>
                <a:cs typeface="Times New Roman"/>
              </a:rPr>
              <a:t>Login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B0EA6-741C-4C13-456A-0C857C7E3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400"/>
            <a:ext cx="91440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959350"/>
            <a:ext cx="5568315" cy="6700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latin typeface="Times New Roman"/>
                <a:cs typeface="Times New Roman"/>
              </a:rPr>
              <a:t>[3]</a:t>
            </a:r>
            <a:r>
              <a:rPr lang="en-IN" sz="1800" spc="-25" dirty="0">
                <a:latin typeface="Times New Roman"/>
                <a:cs typeface="Times New Roman"/>
              </a:rPr>
              <a:t> </a:t>
            </a:r>
            <a:r>
              <a:rPr lang="en-US" spc="-25" dirty="0">
                <a:latin typeface="Times New Roman"/>
                <a:cs typeface="Times New Roman"/>
              </a:rPr>
              <a:t>Bus Table</a:t>
            </a: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lang="en-US" sz="1800" dirty="0">
                <a:latin typeface="Times New Roman"/>
                <a:cs typeface="Times New Roman"/>
              </a:rPr>
              <a:t>Table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name:-</a:t>
            </a:r>
            <a:r>
              <a:rPr lang="en-US" spc="-10" dirty="0">
                <a:latin typeface="Times New Roman"/>
                <a:cs typeface="Times New Roman"/>
              </a:rPr>
              <a:t>Bus  Table  </a:t>
            </a:r>
            <a:endParaRPr lang="en-US" sz="18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19572-DD69-F0DD-F569-5868F90B4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917448"/>
            <a:ext cx="3413125" cy="641713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800" dirty="0">
                <a:latin typeface="Times New Roman"/>
                <a:cs typeface="Times New Roman"/>
              </a:rPr>
              <a:t>[4]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Bus </a:t>
            </a:r>
            <a:r>
              <a:rPr lang="en-US" sz="1800" spc="-10" dirty="0" err="1">
                <a:latin typeface="Times New Roman"/>
                <a:cs typeface="Times New Roman"/>
              </a:rPr>
              <a:t>booking</a:t>
            </a:r>
            <a:r>
              <a:rPr lang="en-US" spc="-10" dirty="0" err="1">
                <a:latin typeface="Times New Roman"/>
                <a:cs typeface="Times New Roman"/>
              </a:rPr>
              <a:t>Table</a:t>
            </a:r>
            <a:r>
              <a:rPr lang="en-US" spc="-10" dirty="0">
                <a:latin typeface="Times New Roman"/>
                <a:cs typeface="Times New Roman"/>
              </a:rPr>
              <a:t>  </a:t>
            </a:r>
            <a:endParaRPr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18300"/>
              </a:lnSpc>
              <a:spcBef>
                <a:spcPts val="15"/>
              </a:spcBef>
            </a:pPr>
            <a:r>
              <a:rPr sz="1800" dirty="0">
                <a:latin typeface="Times New Roman"/>
                <a:cs typeface="Times New Roman"/>
              </a:rPr>
              <a:t>Table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name:-</a:t>
            </a:r>
            <a:r>
              <a:rPr lang="en-US" sz="1800" spc="-10" dirty="0">
                <a:latin typeface="Times New Roman"/>
                <a:cs typeface="Times New Roman"/>
              </a:rPr>
              <a:t>Bus booking</a:t>
            </a:r>
            <a:r>
              <a:rPr lang="en-US" spc="-10" dirty="0">
                <a:latin typeface="Times New Roman"/>
                <a:cs typeface="Times New Roman"/>
              </a:rPr>
              <a:t> Table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A5FF05-63DF-55FB-EE8F-846FFA54A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200"/>
            <a:ext cx="9144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784352"/>
            <a:ext cx="5751830" cy="100976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US" sz="1800" dirty="0">
                <a:latin typeface="Times New Roman"/>
                <a:cs typeface="Times New Roman"/>
              </a:rPr>
              <a:t>[5]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Flight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spc="-10" dirty="0" err="1">
                <a:latin typeface="Times New Roman"/>
                <a:cs typeface="Times New Roman"/>
              </a:rPr>
              <a:t>booking</a:t>
            </a:r>
            <a:r>
              <a:rPr lang="en-US" spc="-10" dirty="0" err="1">
                <a:latin typeface="Times New Roman"/>
                <a:cs typeface="Times New Roman"/>
              </a:rPr>
              <a:t>Table</a:t>
            </a:r>
            <a:r>
              <a:rPr lang="en-US" spc="-10" dirty="0">
                <a:latin typeface="Times New Roman"/>
                <a:cs typeface="Times New Roman"/>
              </a:rPr>
              <a:t>  </a:t>
            </a:r>
            <a:endParaRPr lang="en-US"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18300"/>
              </a:lnSpc>
              <a:spcBef>
                <a:spcPts val="15"/>
              </a:spcBef>
            </a:pPr>
            <a:r>
              <a:rPr lang="en-US" sz="1800" dirty="0">
                <a:latin typeface="Times New Roman"/>
                <a:cs typeface="Times New Roman"/>
              </a:rPr>
              <a:t>Table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name:-Flight booking</a:t>
            </a:r>
            <a:r>
              <a:rPr lang="en-US" spc="-10" dirty="0">
                <a:latin typeface="Times New Roman"/>
                <a:cs typeface="Times New Roman"/>
              </a:rPr>
              <a:t> Table</a:t>
            </a:r>
            <a:endParaRPr lang="en-US"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18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C610E8-FE18-1DA8-07AF-DABB4C2F61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400"/>
            <a:ext cx="9148916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76853-2BA3-10A8-9470-98F15446A282}"/>
              </a:ext>
            </a:extLst>
          </p:cNvPr>
          <p:cNvSpPr txBox="1"/>
          <p:nvPr/>
        </p:nvSpPr>
        <p:spPr>
          <a:xfrm>
            <a:off x="685800" y="609600"/>
            <a:ext cx="2791149" cy="1442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US" sz="2000" dirty="0">
                <a:latin typeface="Times New Roman"/>
                <a:cs typeface="Times New Roman"/>
              </a:rPr>
              <a:t>[6]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Flight Table  </a:t>
            </a: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18300"/>
              </a:lnSpc>
              <a:spcBef>
                <a:spcPts val="15"/>
              </a:spcBef>
            </a:pPr>
            <a:r>
              <a:rPr lang="en-US" sz="2000" dirty="0">
                <a:latin typeface="Times New Roman"/>
                <a:cs typeface="Times New Roman"/>
              </a:rPr>
              <a:t>Table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name:-Flight Table</a:t>
            </a: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C2BAA6-38D7-55FE-6278-D79622CBB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0"/>
            <a:ext cx="9144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43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DE7A5C-D570-6CAE-5E32-F5A4FC5D1A7C}"/>
              </a:ext>
            </a:extLst>
          </p:cNvPr>
          <p:cNvSpPr txBox="1"/>
          <p:nvPr/>
        </p:nvSpPr>
        <p:spPr>
          <a:xfrm>
            <a:off x="1219200" y="685800"/>
            <a:ext cx="4572000" cy="1037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US" spc="-10" dirty="0">
                <a:latin typeface="Times New Roman"/>
                <a:cs typeface="Times New Roman"/>
              </a:rPr>
              <a:t>[7] </a:t>
            </a:r>
            <a:r>
              <a:rPr lang="en-US" spc="-10" dirty="0" err="1">
                <a:latin typeface="Times New Roman"/>
                <a:cs typeface="Times New Roman"/>
              </a:rPr>
              <a:t>Hotel_booking</a:t>
            </a:r>
            <a:r>
              <a:rPr lang="en-US" sz="1800" spc="-10" dirty="0">
                <a:latin typeface="Times New Roman"/>
                <a:cs typeface="Times New Roman"/>
              </a:rPr>
              <a:t> Table  </a:t>
            </a:r>
            <a:endParaRPr lang="en-US"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18300"/>
              </a:lnSpc>
              <a:spcBef>
                <a:spcPts val="15"/>
              </a:spcBef>
            </a:pPr>
            <a:r>
              <a:rPr lang="en-US" sz="1800" dirty="0">
                <a:latin typeface="Times New Roman"/>
                <a:cs typeface="Times New Roman"/>
              </a:rPr>
              <a:t>Table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name:-</a:t>
            </a:r>
            <a:r>
              <a:rPr lang="en-US" spc="-10" dirty="0" err="1">
                <a:latin typeface="Times New Roman"/>
                <a:cs typeface="Times New Roman"/>
              </a:rPr>
              <a:t>Hotel_booking</a:t>
            </a:r>
            <a:r>
              <a:rPr lang="en-US" sz="1800" spc="-10" dirty="0" err="1">
                <a:latin typeface="Times New Roman"/>
                <a:cs typeface="Times New Roman"/>
              </a:rPr>
              <a:t>Table</a:t>
            </a:r>
            <a:endParaRPr lang="en-US"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18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7B517-FD03-D3E8-3D82-6D8FE62D3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2202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28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EEE757-3782-7810-FC91-87D4DDF517A9}"/>
              </a:ext>
            </a:extLst>
          </p:cNvPr>
          <p:cNvSpPr txBox="1"/>
          <p:nvPr/>
        </p:nvSpPr>
        <p:spPr>
          <a:xfrm>
            <a:off x="990600" y="457200"/>
            <a:ext cx="4572000" cy="1314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US" sz="1800" dirty="0">
                <a:latin typeface="Times New Roman"/>
                <a:cs typeface="Times New Roman"/>
              </a:rPr>
              <a:t>[8]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Hotel</a:t>
            </a:r>
            <a:r>
              <a:rPr lang="en-US" sz="1800" spc="-10" dirty="0">
                <a:latin typeface="Times New Roman"/>
                <a:cs typeface="Times New Roman"/>
              </a:rPr>
              <a:t> Table  </a:t>
            </a:r>
            <a:endParaRPr lang="en-US"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18300"/>
              </a:lnSpc>
              <a:spcBef>
                <a:spcPts val="15"/>
              </a:spcBef>
            </a:pPr>
            <a:r>
              <a:rPr lang="en-US" sz="1800" dirty="0">
                <a:latin typeface="Times New Roman"/>
                <a:cs typeface="Times New Roman"/>
              </a:rPr>
              <a:t>Table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name:-</a:t>
            </a:r>
            <a:r>
              <a:rPr lang="en-US" spc="-10" dirty="0">
                <a:latin typeface="Times New Roman"/>
                <a:cs typeface="Times New Roman"/>
              </a:rPr>
              <a:t>Hotel</a:t>
            </a:r>
            <a:r>
              <a:rPr lang="en-US" sz="1800" spc="-10" dirty="0">
                <a:latin typeface="Times New Roman"/>
                <a:cs typeface="Times New Roman"/>
              </a:rPr>
              <a:t> Table</a:t>
            </a:r>
            <a:endParaRPr lang="en-US"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B8BDB7-C635-DBE7-B28B-24C395F86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966"/>
            <a:ext cx="9144000" cy="551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28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9BDC15-9EE9-163C-B802-3F3C299D10EF}"/>
              </a:ext>
            </a:extLst>
          </p:cNvPr>
          <p:cNvSpPr txBox="1"/>
          <p:nvPr/>
        </p:nvSpPr>
        <p:spPr>
          <a:xfrm>
            <a:off x="1219200" y="457200"/>
            <a:ext cx="4572000" cy="1314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US" sz="1800" spc="-10" dirty="0">
                <a:latin typeface="Times New Roman"/>
                <a:cs typeface="Times New Roman"/>
              </a:rPr>
              <a:t>[</a:t>
            </a:r>
            <a:r>
              <a:rPr lang="en-US" spc="-10" dirty="0">
                <a:latin typeface="Times New Roman"/>
                <a:cs typeface="Times New Roman"/>
              </a:rPr>
              <a:t>9</a:t>
            </a:r>
            <a:r>
              <a:rPr lang="en-US" sz="1800" spc="-10" dirty="0">
                <a:latin typeface="Times New Roman"/>
                <a:cs typeface="Times New Roman"/>
              </a:rPr>
              <a:t>] Package Table  </a:t>
            </a:r>
            <a:endParaRPr lang="en-US"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18300"/>
              </a:lnSpc>
              <a:spcBef>
                <a:spcPts val="15"/>
              </a:spcBef>
            </a:pPr>
            <a:r>
              <a:rPr lang="en-US" sz="1800" dirty="0">
                <a:latin typeface="Times New Roman"/>
                <a:cs typeface="Times New Roman"/>
              </a:rPr>
              <a:t>Table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name:-Package Table</a:t>
            </a:r>
            <a:endParaRPr lang="en-US"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3A7DB-31EC-D279-3484-04C93AD25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400"/>
            <a:ext cx="9144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9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B4BF4D-4DEE-AE94-A4CC-0D9218B17165}"/>
              </a:ext>
            </a:extLst>
          </p:cNvPr>
          <p:cNvSpPr txBox="1"/>
          <p:nvPr/>
        </p:nvSpPr>
        <p:spPr>
          <a:xfrm>
            <a:off x="914400" y="457200"/>
            <a:ext cx="4572000" cy="1314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US" spc="-10" dirty="0">
                <a:latin typeface="Times New Roman"/>
                <a:cs typeface="Times New Roman"/>
              </a:rPr>
              <a:t>[10] Train</a:t>
            </a:r>
            <a:r>
              <a:rPr lang="en-US" sz="1800" spc="-10" dirty="0">
                <a:latin typeface="Times New Roman"/>
                <a:cs typeface="Times New Roman"/>
              </a:rPr>
              <a:t> Table  </a:t>
            </a:r>
            <a:endParaRPr lang="en-US"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18300"/>
              </a:lnSpc>
              <a:spcBef>
                <a:spcPts val="15"/>
              </a:spcBef>
            </a:pPr>
            <a:r>
              <a:rPr lang="en-US" sz="1800" dirty="0">
                <a:latin typeface="Times New Roman"/>
                <a:cs typeface="Times New Roman"/>
              </a:rPr>
              <a:t>Table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name:-</a:t>
            </a:r>
            <a:r>
              <a:rPr lang="en-US" spc="-10" dirty="0">
                <a:latin typeface="Times New Roman"/>
                <a:cs typeface="Times New Roman"/>
              </a:rPr>
              <a:t>Train</a:t>
            </a:r>
            <a:r>
              <a:rPr lang="en-US" sz="1800" spc="-10" dirty="0">
                <a:latin typeface="Times New Roman"/>
                <a:cs typeface="Times New Roman"/>
              </a:rPr>
              <a:t> Table</a:t>
            </a:r>
            <a:endParaRPr lang="en-US"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FFD63-6C77-EBFA-E303-4435081A5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9144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46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17944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Times New Roman"/>
                <a:cs typeface="Times New Roman"/>
              </a:rPr>
              <a:t>E-</a:t>
            </a:r>
            <a:r>
              <a:rPr dirty="0">
                <a:latin typeface="Times New Roman"/>
                <a:cs typeface="Times New Roman"/>
              </a:rPr>
              <a:t>R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9AF98-B4DB-8F26-A51D-0934039D0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7" y="996824"/>
            <a:ext cx="8629778" cy="57626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501967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1795" marR="5080" indent="-164973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4.4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User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Modeling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Language Diagrams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59AA8-52F2-11D0-6D34-1E5920586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644" rIns="0" bIns="0" rtlCol="0">
            <a:spAutoFit/>
          </a:bodyPr>
          <a:lstStyle/>
          <a:p>
            <a:pPr marL="199707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4.4.1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Case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Diagram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4C56E31-1B8E-2C58-0173-4E813ECC88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3276600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0FCC9E-5CD2-747F-E3CF-BA8D69EB5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0278"/>
            <a:ext cx="9144000" cy="548772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4025" rIns="0" bIns="0" rtlCol="0">
            <a:spAutoFit/>
          </a:bodyPr>
          <a:lstStyle/>
          <a:p>
            <a:pPr marL="199771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4.4.2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Activity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Diagram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7EF10-C668-C47F-8B10-5B3E27F84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6825"/>
            <a:ext cx="9144000" cy="5591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119" rIns="0" bIns="0" rtlCol="0">
            <a:spAutoFit/>
          </a:bodyPr>
          <a:lstStyle/>
          <a:p>
            <a:pPr marL="13735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4.4.3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Sequence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Diagram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AE7734-052A-FEC9-A7F4-D352A20B2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90600"/>
            <a:ext cx="91440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6334" rIns="0" bIns="0" rtlCol="0">
            <a:spAutoFit/>
          </a:bodyPr>
          <a:lstStyle/>
          <a:p>
            <a:pPr marL="167322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4.4.4 Collaboration </a:t>
            </a:r>
            <a:r>
              <a:rPr sz="3600" spc="-10" dirty="0">
                <a:latin typeface="Times New Roman"/>
                <a:cs typeface="Times New Roman"/>
              </a:rPr>
              <a:t>Diagram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45F20-D2D1-ACB9-3005-2C607B5B6B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91440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3357" rIns="0" bIns="0" rtlCol="0">
            <a:spAutoFit/>
          </a:bodyPr>
          <a:lstStyle/>
          <a:p>
            <a:pPr marL="233235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4.4.5 Class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Diagram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487A7-885F-3FFB-C046-97C0F21D8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0278"/>
            <a:ext cx="9143999" cy="548772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1790" y="1669744"/>
            <a:ext cx="39624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14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Tourist and Tourism Management:</a:t>
            </a:r>
            <a:r>
              <a:rPr lang="en-IN" sz="1400" dirty="0"/>
              <a:t>Home Page 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8" name="Image 35">
            <a:extLst>
              <a:ext uri="{FF2B5EF4-FFF2-40B4-BE49-F238E27FC236}">
                <a16:creationId xmlns:a16="http://schemas.microsoft.com/office/drawing/2014/main" id="{AB530F46-CE7C-54A0-EF76-DAB633923E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894" y="2057400"/>
            <a:ext cx="9146894" cy="46374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6F8D7E-94F7-3C69-1046-7800411B42B9}"/>
              </a:ext>
            </a:extLst>
          </p:cNvPr>
          <p:cNvSpPr txBox="1"/>
          <p:nvPr/>
        </p:nvSpPr>
        <p:spPr>
          <a:xfrm>
            <a:off x="1905000" y="592329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spc="-25" dirty="0"/>
              <a:t>4.5</a:t>
            </a:r>
            <a:r>
              <a:rPr lang="en-IN" sz="4400" b="1" dirty="0"/>
              <a:t>	Input</a:t>
            </a:r>
            <a:r>
              <a:rPr lang="en-IN" sz="4400" b="1" spc="-10" dirty="0"/>
              <a:t> Design</a:t>
            </a:r>
            <a:endParaRPr lang="en-IN" sz="44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738" y="451231"/>
            <a:ext cx="4950461" cy="5802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14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Tourist and Tourism Management:</a:t>
            </a:r>
            <a:r>
              <a:rPr lang="en-US" sz="1800" b="1" dirty="0"/>
              <a:t> </a:t>
            </a:r>
            <a:r>
              <a:rPr lang="en-US" sz="1800" dirty="0"/>
              <a:t>Package Page</a:t>
            </a:r>
            <a:endParaRPr lang="en-IN" sz="1800" dirty="0"/>
          </a:p>
          <a:p>
            <a:pPr marL="12700">
              <a:spcBef>
                <a:spcPts val="105"/>
              </a:spcBef>
            </a:pPr>
            <a:endParaRPr lang="en-IN" sz="1800" b="1" dirty="0"/>
          </a:p>
        </p:txBody>
      </p:sp>
      <p:pic>
        <p:nvPicPr>
          <p:cNvPr id="4" name="Image 39">
            <a:extLst>
              <a:ext uri="{FF2B5EF4-FFF2-40B4-BE49-F238E27FC236}">
                <a16:creationId xmlns:a16="http://schemas.microsoft.com/office/drawing/2014/main" id="{5947F583-3455-6BE3-53B7-98D04EEF30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31518"/>
            <a:ext cx="9144000" cy="582648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9296BE-320F-A8AE-C775-6DEE31A44C6A}"/>
              </a:ext>
            </a:extLst>
          </p:cNvPr>
          <p:cNvSpPr txBox="1"/>
          <p:nvPr/>
        </p:nvSpPr>
        <p:spPr>
          <a:xfrm>
            <a:off x="192506" y="685800"/>
            <a:ext cx="53700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Tourist and Tourism Management:</a:t>
            </a:r>
            <a:r>
              <a:rPr lang="en-US" sz="2400" b="1" dirty="0"/>
              <a:t> </a:t>
            </a:r>
            <a:r>
              <a:rPr lang="en-US" sz="1800" dirty="0"/>
              <a:t>About Us page</a:t>
            </a:r>
            <a:endParaRPr lang="en-IN" sz="1800" dirty="0"/>
          </a:p>
          <a:p>
            <a:endParaRPr lang="en-IN" dirty="0"/>
          </a:p>
        </p:txBody>
      </p:sp>
      <p:pic>
        <p:nvPicPr>
          <p:cNvPr id="5" name="Image 43">
            <a:extLst>
              <a:ext uri="{FF2B5EF4-FFF2-40B4-BE49-F238E27FC236}">
                <a16:creationId xmlns:a16="http://schemas.microsoft.com/office/drawing/2014/main" id="{9F627CCB-785F-9FD1-4974-02EB656497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95400"/>
            <a:ext cx="914400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47DC83-718F-B775-304B-9863578E4571}"/>
              </a:ext>
            </a:extLst>
          </p:cNvPr>
          <p:cNvSpPr txBox="1"/>
          <p:nvPr/>
        </p:nvSpPr>
        <p:spPr>
          <a:xfrm>
            <a:off x="228600" y="990600"/>
            <a:ext cx="617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8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Tourist and Tourism Management:</a:t>
            </a:r>
            <a:r>
              <a:rPr lang="en-US" sz="1800" b="1" dirty="0"/>
              <a:t> </a:t>
            </a:r>
            <a:r>
              <a:rPr lang="en-US" sz="1800" dirty="0"/>
              <a:t>Registration page</a:t>
            </a:r>
            <a:endParaRPr lang="en-IN" sz="1800" dirty="0"/>
          </a:p>
          <a:p>
            <a:r>
              <a:rPr lang="en-US" sz="1800" b="1" dirty="0"/>
              <a:t> </a:t>
            </a:r>
            <a:endParaRPr lang="en-IN" sz="1800" dirty="0"/>
          </a:p>
          <a:p>
            <a:endParaRPr lang="en-IN" dirty="0"/>
          </a:p>
        </p:txBody>
      </p:sp>
      <p:pic>
        <p:nvPicPr>
          <p:cNvPr id="5" name="Image 47">
            <a:extLst>
              <a:ext uri="{FF2B5EF4-FFF2-40B4-BE49-F238E27FC236}">
                <a16:creationId xmlns:a16="http://schemas.microsoft.com/office/drawing/2014/main" id="{88238680-8A88-DC49-7AEB-E80B29394E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" y="1676400"/>
            <a:ext cx="9143035" cy="2740025"/>
          </a:xfrm>
          <a:prstGeom prst="rect">
            <a:avLst/>
          </a:prstGeom>
        </p:spPr>
      </p:pic>
      <p:pic>
        <p:nvPicPr>
          <p:cNvPr id="6" name="Image 48">
            <a:extLst>
              <a:ext uri="{FF2B5EF4-FFF2-40B4-BE49-F238E27FC236}">
                <a16:creationId xmlns:a16="http://schemas.microsoft.com/office/drawing/2014/main" id="{F8FB7CF5-6C24-BF1C-FCA6-CC5678A6201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" y="4416425"/>
            <a:ext cx="9143035" cy="26555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CAFF16-E2C6-E764-BB39-2472C59BA240}"/>
              </a:ext>
            </a:extLst>
          </p:cNvPr>
          <p:cNvSpPr txBox="1"/>
          <p:nvPr/>
        </p:nvSpPr>
        <p:spPr>
          <a:xfrm>
            <a:off x="22185" y="814085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Tourist and Tourism Management</a:t>
            </a:r>
            <a:r>
              <a:rPr lang="en-IN" sz="18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:</a:t>
            </a:r>
            <a:r>
              <a:rPr lang="en-US" sz="1800" dirty="0"/>
              <a:t> Login page</a:t>
            </a:r>
            <a:endParaRPr lang="en-IN" sz="1800" dirty="0"/>
          </a:p>
          <a:p>
            <a:endParaRPr lang="en-US" sz="1800" dirty="0">
              <a:solidFill>
                <a:schemeClr val="tx1"/>
              </a:solidFill>
              <a:latin typeface="Fraunces" pitchFamily="34" charset="0"/>
              <a:ea typeface="Fraunces" pitchFamily="34" charset="-122"/>
              <a:cs typeface="Fraunces" pitchFamily="34" charset="-120"/>
            </a:endParaRPr>
          </a:p>
        </p:txBody>
      </p:sp>
      <p:pic>
        <p:nvPicPr>
          <p:cNvPr id="5" name="Image 52">
            <a:extLst>
              <a:ext uri="{FF2B5EF4-FFF2-40B4-BE49-F238E27FC236}">
                <a16:creationId xmlns:a16="http://schemas.microsoft.com/office/drawing/2014/main" id="{466B374E-CEB3-B25F-4DB9-BCD9E9D9EF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60416"/>
            <a:ext cx="9144000" cy="539758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7708" y="576452"/>
            <a:ext cx="5200092" cy="5187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14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Tourist and Tourism Management:</a:t>
            </a:r>
            <a:r>
              <a:rPr lang="en-US" sz="1800" dirty="0"/>
              <a:t> Package Booking</a:t>
            </a:r>
            <a:endParaRPr lang="en-IN" sz="180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" name="Image 56">
            <a:extLst>
              <a:ext uri="{FF2B5EF4-FFF2-40B4-BE49-F238E27FC236}">
                <a16:creationId xmlns:a16="http://schemas.microsoft.com/office/drawing/2014/main" id="{7CC49937-E045-2C28-DC5E-BB972723EF7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3759" y="1349656"/>
            <a:ext cx="9177759" cy="55054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43967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8075" algn="l"/>
              </a:tabLst>
            </a:pPr>
            <a:r>
              <a:rPr sz="4400" spc="-25" dirty="0"/>
              <a:t>4.6</a:t>
            </a:r>
            <a:r>
              <a:rPr sz="4400" dirty="0"/>
              <a:t>	output</a:t>
            </a:r>
            <a:r>
              <a:rPr sz="4400" spc="-30" dirty="0"/>
              <a:t> </a:t>
            </a:r>
            <a:r>
              <a:rPr sz="4400" spc="-10" dirty="0"/>
              <a:t>Design</a:t>
            </a:r>
            <a:endParaRPr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3041D-776E-7ABE-E81E-2A9107D7F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951"/>
            <a:ext cx="9144000" cy="568804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5E5A-1F78-9976-1E49-ECCC65903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47" y="98551"/>
            <a:ext cx="8934704" cy="830997"/>
          </a:xfrm>
        </p:spPr>
        <p:txBody>
          <a:bodyPr/>
          <a:lstStyle/>
          <a:p>
            <a:r>
              <a:rPr lang="en-US" sz="5400" dirty="0"/>
              <a:t>            Sign In Page</a:t>
            </a:r>
            <a:endParaRPr lang="en-IN" sz="5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2AB0DD-4938-9AF8-7732-23F8BD3D8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1304"/>
            <a:ext cx="9144000" cy="573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657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94958-9A8F-3425-CEEC-61D1761B3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47" y="98551"/>
            <a:ext cx="8934704" cy="830997"/>
          </a:xfrm>
        </p:spPr>
        <p:txBody>
          <a:bodyPr/>
          <a:lstStyle/>
          <a:p>
            <a:r>
              <a:rPr lang="en-US" sz="5400" dirty="0"/>
              <a:t>        Search Bar</a:t>
            </a:r>
            <a:endParaRPr lang="en-IN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F0D2A-0BEF-16FE-3E56-0EF1FE867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2652"/>
            <a:ext cx="9144000" cy="539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75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50939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5.1</a:t>
            </a:r>
            <a:r>
              <a:rPr sz="4400" spc="-15" dirty="0"/>
              <a:t> </a:t>
            </a:r>
            <a:r>
              <a:rPr sz="4400" dirty="0"/>
              <a:t>SYSTEM</a:t>
            </a:r>
            <a:r>
              <a:rPr sz="4400" spc="-10" dirty="0"/>
              <a:t> TETSTING</a:t>
            </a:r>
            <a:endParaRPr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C40785-DC3D-5F45-59FA-B4A5EC0AA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3146"/>
            <a:ext cx="9144000" cy="23648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3AE143-2C84-1204-2B6A-AF98AA011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0"/>
            <a:ext cx="9144000" cy="2588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2C7449-6C18-BDBF-151C-A4127C9BC62F}"/>
              </a:ext>
            </a:extLst>
          </p:cNvPr>
          <p:cNvSpPr txBox="1"/>
          <p:nvPr/>
        </p:nvSpPr>
        <p:spPr>
          <a:xfrm>
            <a:off x="730905" y="1164525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Admin  Page Input</a:t>
            </a:r>
          </a:p>
          <a:p>
            <a:pPr marL="114300" indent="0">
              <a:buNone/>
            </a:pPr>
            <a:endParaRPr lang="en-IN" sz="3600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5483" rIns="0" bIns="0" rtlCol="0">
            <a:spAutoFit/>
          </a:bodyPr>
          <a:lstStyle/>
          <a:p>
            <a:pPr marL="2094864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5.1.1</a:t>
            </a:r>
            <a:r>
              <a:rPr sz="4400" spc="-40" dirty="0"/>
              <a:t> </a:t>
            </a:r>
            <a:r>
              <a:rPr sz="4400" dirty="0"/>
              <a:t>Output </a:t>
            </a:r>
            <a:r>
              <a:rPr sz="4400" spc="-10" dirty="0"/>
              <a:t>Testing</a:t>
            </a:r>
            <a:endParaRPr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B1D97-2844-7BE8-1E0B-DE8A844DE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317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E380AB-BD27-DC29-B810-3D2AEC78A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6606"/>
            <a:ext cx="9144000" cy="226369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E9ED87-8E1D-0530-01D4-4DBAC323F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999"/>
            <a:ext cx="9144000" cy="35052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12C542-480C-44EB-6E3B-FF1AC8897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67200"/>
            <a:ext cx="9144000" cy="2590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5CD31F-2930-D3DF-2860-4E64726DAE60}"/>
              </a:ext>
            </a:extLst>
          </p:cNvPr>
          <p:cNvSpPr txBox="1"/>
          <p:nvPr/>
        </p:nvSpPr>
        <p:spPr>
          <a:xfrm>
            <a:off x="228600" y="152400"/>
            <a:ext cx="571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Wrong Id and Password :- Not able to Admin Login </a:t>
            </a:r>
            <a:endParaRPr lang="en-IN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26132B-9C4F-93F2-14CD-31146389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9144000" cy="609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F71664-7EBB-1904-9509-9935D6EBA899}"/>
              </a:ext>
            </a:extLst>
          </p:cNvPr>
          <p:cNvSpPr txBox="1"/>
          <p:nvPr/>
        </p:nvSpPr>
        <p:spPr>
          <a:xfrm>
            <a:off x="0" y="228600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Enter email Without @ it is not </a:t>
            </a:r>
            <a:r>
              <a:rPr lang="en-US" sz="2400" dirty="0" err="1"/>
              <a:t>allowd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291072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6844" y="2146173"/>
            <a:ext cx="629031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4925" marR="5080" indent="-129286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CONCLUSION</a:t>
            </a:r>
            <a:r>
              <a:rPr sz="4400" spc="-25" dirty="0"/>
              <a:t> </a:t>
            </a:r>
            <a:r>
              <a:rPr sz="4400" dirty="0"/>
              <a:t>AND</a:t>
            </a:r>
            <a:r>
              <a:rPr sz="4400" spc="-10" dirty="0"/>
              <a:t> FUTURE ENHANCEMENT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8278" y="6426504"/>
            <a:ext cx="16478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Project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Title&gt;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5298" y="478663"/>
            <a:ext cx="3614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6465" algn="l"/>
              </a:tabLst>
            </a:pPr>
            <a:r>
              <a:rPr sz="4400" spc="-25" dirty="0">
                <a:latin typeface="Times New Roman"/>
                <a:cs typeface="Times New Roman"/>
              </a:rPr>
              <a:t>6.1</a:t>
            </a:r>
            <a:r>
              <a:rPr sz="4400" dirty="0">
                <a:latin typeface="Times New Roman"/>
                <a:cs typeface="Times New Roman"/>
              </a:rPr>
              <a:t>	</a:t>
            </a:r>
            <a:r>
              <a:rPr sz="4400" spc="-10" dirty="0">
                <a:latin typeface="Times New Roman"/>
                <a:cs typeface="Times New Roman"/>
              </a:rPr>
              <a:t>Conclusion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2C8D0-D3CD-6217-F7C6-B61603C52107}"/>
              </a:ext>
            </a:extLst>
          </p:cNvPr>
          <p:cNvSpPr txBox="1"/>
          <p:nvPr/>
        </p:nvSpPr>
        <p:spPr>
          <a:xfrm>
            <a:off x="76200" y="1175258"/>
            <a:ext cx="8915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project successfully integrates tourism services with package booking and management, offering a one-stop solution for tourists and administrators.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Automating the booking, payment, and record management process saves considerable time and effort for users.</a:t>
            </a:r>
          </a:p>
          <a:p>
            <a:br>
              <a:rPr lang="en-US" dirty="0"/>
            </a:br>
            <a:r>
              <a:rPr lang="en-US" dirty="0"/>
              <a:t>Proper authentication and data encryption mechanisms ensure the privacy and security of user data.</a:t>
            </a:r>
          </a:p>
          <a:p>
            <a:br>
              <a:rPr lang="en-US" dirty="0"/>
            </a:br>
            <a:r>
              <a:rPr lang="en-US" dirty="0"/>
              <a:t>The built-in package management system enables administrators to create, update, and manage tour packages easily, without needing external tools.</a:t>
            </a:r>
          </a:p>
          <a:p>
            <a:br>
              <a:rPr lang="en-US" dirty="0"/>
            </a:br>
            <a:r>
              <a:rPr lang="en-US" dirty="0"/>
              <a:t>Tourists can explore destinations, book packages, and track their travel history efficiently, while administrators can maintain structured records of customers, bookings, and payments.</a:t>
            </a:r>
            <a:endParaRPr lang="en-I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2752" y="478663"/>
            <a:ext cx="62376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6465" algn="l"/>
              </a:tabLst>
            </a:pPr>
            <a:r>
              <a:rPr sz="4400" spc="-25" dirty="0">
                <a:latin typeface="Times New Roman"/>
                <a:cs typeface="Times New Roman"/>
              </a:rPr>
              <a:t>6.2</a:t>
            </a:r>
            <a:r>
              <a:rPr sz="4400" dirty="0">
                <a:latin typeface="Times New Roman"/>
                <a:cs typeface="Times New Roman"/>
              </a:rPr>
              <a:t>	Future</a:t>
            </a:r>
            <a:r>
              <a:rPr sz="4400" spc="-1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Enhancements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" y="1305839"/>
            <a:ext cx="9112044" cy="5552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enhance the Travel and Tourism Management System and provide a richer travel experience, several key improvements are planned. Future updates will include </a:t>
            </a:r>
            <a:r>
              <a:rPr lang="en-US" b="1" dirty="0"/>
              <a:t>AI-driven travel recommendations</a:t>
            </a:r>
            <a:r>
              <a:rPr lang="en-US" dirty="0"/>
              <a:t> to deliver personalized trip suggestions based on user preferences and </a:t>
            </a:r>
            <a:r>
              <a:rPr lang="en-US" b="1" dirty="0"/>
              <a:t>real-time booking/travel status tracking</a:t>
            </a:r>
            <a:r>
              <a:rPr lang="en-US" dirty="0"/>
              <a:t> for better transparency.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Push notifications</a:t>
            </a:r>
            <a:r>
              <a:rPr lang="en-US" dirty="0"/>
              <a:t> will be implemented to alert users about special offers, booking confirmations, itinerary updates, and new travel packages. To make trip planning easier, </a:t>
            </a:r>
            <a:r>
              <a:rPr lang="en-US" b="1" dirty="0"/>
              <a:t>advanced search filters</a:t>
            </a:r>
            <a:r>
              <a:rPr lang="en-US" dirty="0"/>
              <a:t> and </a:t>
            </a:r>
            <a:r>
              <a:rPr lang="en-US" b="1" dirty="0"/>
              <a:t>voice-based search</a:t>
            </a:r>
            <a:r>
              <a:rPr lang="en-US" dirty="0"/>
              <a:t> options will be added for destinations, hotels, and tours.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 the security front, </a:t>
            </a:r>
            <a:r>
              <a:rPr lang="en-US" b="1" dirty="0"/>
              <a:t>two-factor authentication</a:t>
            </a:r>
            <a:r>
              <a:rPr lang="en-US" dirty="0"/>
              <a:t> and </a:t>
            </a:r>
            <a:r>
              <a:rPr lang="en-US" b="1" dirty="0"/>
              <a:t>enhanced payment gateway integration</a:t>
            </a:r>
            <a:r>
              <a:rPr lang="en-US" dirty="0"/>
              <a:t> will ensure safer and more reliable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These enhancements aim to make the Travel and Tourism Management System more </a:t>
            </a:r>
            <a:r>
              <a:rPr lang="en-US" b="1" dirty="0"/>
              <a:t>intelligent, secure, and user-friendly</a:t>
            </a:r>
            <a:r>
              <a:rPr lang="en-US" dirty="0"/>
              <a:t>, offering a seamless and personalized experience for travelers.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26504"/>
            <a:ext cx="1016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*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48278" y="6426504"/>
            <a:ext cx="16478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&lt;Group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No.-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Project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Title&gt;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063" y="3262629"/>
            <a:ext cx="70700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BIBLIOGRAPHY</a:t>
            </a:r>
            <a:r>
              <a:rPr sz="4400" spc="-45" dirty="0"/>
              <a:t> </a:t>
            </a:r>
            <a:r>
              <a:rPr sz="4400" dirty="0"/>
              <a:t>&amp; </a:t>
            </a:r>
            <a:r>
              <a:rPr sz="4400" spc="-10" dirty="0"/>
              <a:t>REFERENCES</a:t>
            </a:r>
            <a:endParaRPr sz="4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345" y="478663"/>
            <a:ext cx="51485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7100" algn="l"/>
              </a:tabLst>
            </a:pPr>
            <a:r>
              <a:rPr sz="4400" spc="-25" dirty="0">
                <a:latin typeface="Times New Roman"/>
                <a:cs typeface="Times New Roman"/>
              </a:rPr>
              <a:t>7.1</a:t>
            </a:r>
            <a:r>
              <a:rPr sz="4400" dirty="0">
                <a:latin typeface="Times New Roman"/>
                <a:cs typeface="Times New Roman"/>
              </a:rPr>
              <a:t>	Books</a:t>
            </a:r>
            <a:r>
              <a:rPr sz="4400" spc="-1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References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1371600"/>
            <a:ext cx="8991600" cy="563391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r>
              <a:rPr lang="en-IN" sz="2400" dirty="0"/>
              <a:t>Holloway, J. C., &amp; Humphreys, C. </a:t>
            </a:r>
            <a:r>
              <a:rPr lang="en-IN" sz="2400" b="1" dirty="0"/>
              <a:t>The Business of Tourism,</a:t>
            </a:r>
            <a:r>
              <a:rPr lang="en-IN" sz="2400" dirty="0"/>
              <a:t> Sage Publications, 2019.</a:t>
            </a:r>
          </a:p>
          <a:p>
            <a:endParaRPr lang="en-IN" sz="2400" dirty="0"/>
          </a:p>
          <a:p>
            <a:r>
              <a:rPr lang="en-IN" sz="2400" dirty="0"/>
              <a:t>Goeldner, C. R., &amp; Ritchie, J. R. B. </a:t>
            </a:r>
            <a:r>
              <a:rPr lang="en-IN" sz="2400" b="1" dirty="0"/>
              <a:t>Tourism: Principles, Practices, Philosophies.</a:t>
            </a:r>
            <a:r>
              <a:rPr lang="en-IN" sz="2400" dirty="0"/>
              <a:t> Wiley, 2012.</a:t>
            </a:r>
          </a:p>
          <a:p>
            <a:endParaRPr lang="en-IN" sz="2400" dirty="0"/>
          </a:p>
          <a:p>
            <a:r>
              <a:rPr lang="en-IN" sz="2400" dirty="0"/>
              <a:t>Russell, J. T. &amp; Charles, R. </a:t>
            </a:r>
            <a:r>
              <a:rPr lang="en-IN" sz="2400" b="1" dirty="0"/>
              <a:t>Tourism and Hospitality Management, </a:t>
            </a:r>
            <a:r>
              <a:rPr lang="en-IN" sz="2400" dirty="0"/>
              <a:t>Oxford University Press, 2017.</a:t>
            </a:r>
          </a:p>
          <a:p>
            <a:endParaRPr lang="en-IN" sz="2400" dirty="0"/>
          </a:p>
          <a:p>
            <a:r>
              <a:rPr lang="en-IN" sz="2400" dirty="0"/>
              <a:t>Meloni, Julie C. </a:t>
            </a:r>
            <a:r>
              <a:rPr lang="en-IN" sz="2400" b="1" dirty="0"/>
              <a:t>PHP, MySQL, JavaScript &amp; HTML5 All-in-One For Dummies,</a:t>
            </a:r>
            <a:r>
              <a:rPr lang="en-IN" sz="2400" dirty="0"/>
              <a:t> Wiley, 2018.</a:t>
            </a:r>
          </a:p>
          <a:p>
            <a:endParaRPr lang="en-IN" sz="2400" dirty="0"/>
          </a:p>
          <a:p>
            <a:r>
              <a:rPr lang="en-IN" sz="2400" dirty="0"/>
              <a:t>Welling, L., &amp; Thomson, L. </a:t>
            </a:r>
            <a:r>
              <a:rPr lang="en-IN" sz="2400" b="1" dirty="0"/>
              <a:t>PHP and MySQL Web Development,</a:t>
            </a:r>
            <a:r>
              <a:rPr lang="en-IN" sz="2400" dirty="0"/>
              <a:t> Addison-Wesley, 2016.</a:t>
            </a:r>
          </a:p>
          <a:p>
            <a:pPr marL="355600" marR="5080" indent="-342900">
              <a:lnSpc>
                <a:spcPts val="3279"/>
              </a:lnSpc>
              <a:spcBef>
                <a:spcPts val="275"/>
              </a:spcBef>
              <a:buSzPct val="64285"/>
              <a:buFont typeface="Arial MT"/>
              <a:buChar char="•"/>
              <a:tabLst>
                <a:tab pos="35560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345" y="478663"/>
            <a:ext cx="51473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69365" algn="l"/>
              </a:tabLst>
            </a:pPr>
            <a:r>
              <a:rPr sz="4400" spc="-25" dirty="0">
                <a:latin typeface="Times New Roman"/>
                <a:cs typeface="Times New Roman"/>
              </a:rPr>
              <a:t>7.2</a:t>
            </a:r>
            <a:r>
              <a:rPr sz="4400" dirty="0">
                <a:latin typeface="Times New Roman"/>
                <a:cs typeface="Times New Roman"/>
              </a:rPr>
              <a:t>	Web </a:t>
            </a:r>
            <a:r>
              <a:rPr sz="4400" spc="-10" dirty="0">
                <a:latin typeface="Times New Roman"/>
                <a:cs typeface="Times New Roman"/>
              </a:rPr>
              <a:t>References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82F493-8A2E-4F2C-A013-1C6F39D2A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1869"/>
            <a:ext cx="91440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Official Documentation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https://dev.mysql.com/doc/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W3Schools PHP Tutorial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https://www.w3schools.com/php/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TutorialsPoint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PHP Programming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https://www.tutorialspoint.com/php/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GeeksforGeeks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PHP Development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https://www.geeksforgeeks.org/php/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MDN Web Docs (HTML, CSS, JavaScript Reference)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https://developer.mozilla.org/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 Official Documentation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https://www.php.net/docs.php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UNWTO (World Tourism Organization) – https://www.unwto.org/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342900" indent="-342900" algn="l">
          <a:buFont typeface="Arial" panose="020B0604020202020204" pitchFamily="34" charset="0"/>
          <a:buChar char="•"/>
          <a:defRPr sz="2000" b="1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2010</TotalTime>
  <Words>1992</Words>
  <Application>Microsoft Office PowerPoint</Application>
  <PresentationFormat>On-screen Show (4:3)</PresentationFormat>
  <Paragraphs>254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Arial MT</vt:lpstr>
      <vt:lpstr>Calibri</vt:lpstr>
      <vt:lpstr>Fraunces</vt:lpstr>
      <vt:lpstr>Times New Roman</vt:lpstr>
      <vt:lpstr>Wingdings</vt:lpstr>
      <vt:lpstr>Office Theme</vt:lpstr>
      <vt:lpstr>PowerPoint Presentation</vt:lpstr>
      <vt:lpstr>INTRODUCTION</vt:lpstr>
      <vt:lpstr>1.1 Project Profile</vt:lpstr>
      <vt:lpstr>1.2 About the Organization</vt:lpstr>
      <vt:lpstr>SYSTEM STUDY AND ANALYSIS</vt:lpstr>
      <vt:lpstr>2.1 Problem Statement</vt:lpstr>
      <vt:lpstr>2.2 Existing System</vt:lpstr>
      <vt:lpstr>2.2.1 Drawbacks</vt:lpstr>
      <vt:lpstr>2.3 Proposed System</vt:lpstr>
      <vt:lpstr>2.3.1 Advantages or Comparison Study</vt:lpstr>
      <vt:lpstr>2.3.2 Modules (with short description)</vt:lpstr>
      <vt:lpstr>PowerPoint Presentation</vt:lpstr>
      <vt:lpstr>DEVELOPMENT ENVIRONMENT</vt:lpstr>
      <vt:lpstr>3.1 Hardware Requirement</vt:lpstr>
      <vt:lpstr>3.2 Software Requirement</vt:lpstr>
      <vt:lpstr>3.3 Programming Environment</vt:lpstr>
      <vt:lpstr>PowerPoint Presentation</vt:lpstr>
      <vt:lpstr>SYSTEM DESIGN AND DEVELOPMENT</vt:lpstr>
      <vt:lpstr>4.1 Time line chart</vt:lpstr>
      <vt:lpstr>4.2 Data Dictionary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E-R Diagram</vt:lpstr>
      <vt:lpstr>4.4 User Modeling Language Diagrams</vt:lpstr>
      <vt:lpstr>4.4.1 Use Case Diagram</vt:lpstr>
      <vt:lpstr>4.4.2 Activity Diagram</vt:lpstr>
      <vt:lpstr>4.4.3 Sequence Diagram</vt:lpstr>
      <vt:lpstr>4.4.4 Collaboration Diagram</vt:lpstr>
      <vt:lpstr>4.4.5 Class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4.6 output Design</vt:lpstr>
      <vt:lpstr>            Sign In Page</vt:lpstr>
      <vt:lpstr>        Search Bar</vt:lpstr>
      <vt:lpstr>5.1 SYSTEM TETSTING</vt:lpstr>
      <vt:lpstr>5.1.1 Output Testing</vt:lpstr>
      <vt:lpstr>PowerPoint Presentation</vt:lpstr>
      <vt:lpstr>PowerPoint Presentation</vt:lpstr>
      <vt:lpstr>CONCLUSION AND FUTURE ENHANCEMENT</vt:lpstr>
      <vt:lpstr>6.1 Conclusion</vt:lpstr>
      <vt:lpstr>6.2 Future Enhancements</vt:lpstr>
      <vt:lpstr>BIBLIOGRAPHY &amp; REFERENCES</vt:lpstr>
      <vt:lpstr>7.1 Books References</vt:lpstr>
      <vt:lpstr>7.2 Web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Project Presentation on  CAREER LIFT  Group no: 25  Enrollment No:  23034211102 - Devanshi Rathod 23034211093 - Ritu Patel</dc:title>
  <dc:creator>dell</dc:creator>
  <cp:lastModifiedBy>patel yash</cp:lastModifiedBy>
  <cp:revision>47</cp:revision>
  <dcterms:created xsi:type="dcterms:W3CDTF">2025-08-07T13:14:19Z</dcterms:created>
  <dcterms:modified xsi:type="dcterms:W3CDTF">2025-11-24T17:21:13Z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2025-08-07T00:00:00Z</vt:filetime>
  </property>
  <property fmtid="{D5CDD505-2E9C-101B-9397-08002B2CF9AE}" pid="5" name="Producer">
    <vt:lpwstr>Microsoft® PowerPoint® 2019</vt:lpwstr>
  </property>
</Properties>
</file>