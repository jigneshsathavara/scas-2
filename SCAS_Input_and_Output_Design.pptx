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4389120" cy="384048"/>
          </a:xfrm>
          <a:prstGeom prst="roundRect">
            <a:avLst/>
          </a:prstGeom>
          <a:solidFill>
            <a:srgbClr val="1A365D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182CE"/>
                </a:solidFill>
              </a:defRPr>
            </a:pPr>
            <a:r>
              <a:t>SOFTWARE ENGINEERING &amp; SYSTEM DESIGN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Smart College Analytics System</a:t>
            </a:r>
          </a:p>
          <a:p>
            <a:pPr>
              <a:spcBef>
                <a:spcPts val="600"/>
              </a:spcBef>
              <a:defRPr sz="2200">
                <a:solidFill>
                  <a:srgbClr val="3182CE"/>
                </a:solidFill>
              </a:defRPr>
            </a:pPr>
            <a:r>
              <a:t>Comprehensive Input Design &amp; Output Design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50292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🔐 12 Input Forms &amp; Ingestion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Form Controls, Validations, Bulk CSV Engine, RBAC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50292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📊 10 Output Displays &amp; Reports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Executive Dashboards, AI Dropout Risk, Official Transcripts, Receipts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50292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🗄️ Relational Schema Traceability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Full Field-to-Entity Mapping Across 13 MySQL Tables (scas_*)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0292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⚡ Machine Learning &amp; Automation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Real-Time SGPA/CGPA Tabulation, Predictive Heuristics, SMTP 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Master of Computer Applications (MCA) | Department of Computer Science &amp; Applications | Academic Year 2024-2026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DESIGN METHODOLOGY &amp; 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System Design Philosophy: Input vs. Output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📥 INPUT DESIGN PRINCIPLES &amp; GOALS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1A365D"/>
                </a:solidFill>
                <a:latin typeface="Segoe UI"/>
              </a:rPr>
              <a:t>• Ergonomic Data Entry: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Intuitive form controls (text, date pickers, dropdowns, switches) minimizing user keystrokes.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1A365D"/>
                </a:solidFill>
                <a:latin typeface="Segoe UI"/>
              </a:rPr>
              <a:t>• Defensive Validation Tier: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Multi-tier checks (Client-side HTML5/JS + Server-side Flask/WTForms + DB Integrity Constraints).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1A365D"/>
                </a:solidFill>
                <a:latin typeface="Segoe UI"/>
              </a:rPr>
              <a:t>• Strict Data Integrity: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FK integrity, composite unique constraints, Scrypt password hashing, and anti-tamper controls.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1A365D"/>
                </a:solidFill>
                <a:latin typeface="Segoe UI"/>
              </a:rPr>
              <a:t>• Bulk Asynchronous Ingestion: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High-throughput CSV import with header parsing, transactional rollback, and error logging.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1A365D"/>
                </a:solidFill>
                <a:latin typeface="Segoe UI"/>
              </a:rPr>
              <a:t>• Role-Based Input Access: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@role_required gatekeepers ensuring users only access authorized entry 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120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📤 OUTPUT DESIGN PRINCIPLES &amp; GOALS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3182CE"/>
                </a:solidFill>
                <a:latin typeface="Segoe UI"/>
              </a:rPr>
              <a:t>• Executive &amp; Operational Visibility: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Instant KPI metric cards, progress bars, and historical activity streams.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3182CE"/>
                </a:solidFill>
                <a:latin typeface="Segoe UI"/>
              </a:rPr>
              <a:t>• Predictive Risk Intelligence: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Automated AI decision models flagging dropout risks with actionable color-coded alerts.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3182CE"/>
                </a:solidFill>
                <a:latin typeface="Segoe UI"/>
              </a:rPr>
              <a:t>• Official Formal Documents: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Print-optimized CSS templates for Semester Grade Transcripts and Payment Receipts.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3182CE"/>
                </a:solidFill>
                <a:latin typeface="Segoe UI"/>
              </a:rPr>
              <a:t>• Multi-Format Deliverables: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Screen dashboards, exportable CSV registers, printable HTML, and transactional SMTP emails.</a:t>
            </a:r>
          </a:p>
          <a:p>
            <a:pPr>
              <a:spcBef>
                <a:spcPts val="800"/>
              </a:spcBef>
            </a:pPr>
            <a:r>
              <a:rPr b="1" i="0" sz="900">
                <a:solidFill>
                  <a:srgbClr val="3182CE"/>
                </a:solidFill>
                <a:latin typeface="Segoe UI"/>
              </a:rPr>
              <a:t>• Ergonomic Visual Hierarchy: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WCAG 2.1 AA contrast compliance, responsive cards, and clean typography.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🔄 END-TO-END DATA CONVERSION PIPELINE</a:t>
            </a:r>
          </a:p>
          <a:p>
            <a:pPr>
              <a:spcBef>
                <a:spcPts val="400"/>
              </a:spcBef>
            </a:pPr>
            <a:r>
              <a:rPr b="1" i="0" sz="900">
                <a:solidFill>
                  <a:srgbClr val="1A365D"/>
                </a:solidFill>
                <a:latin typeface="Segoe UI"/>
              </a:rPr>
              <a:t>[User Input Forms]</a:t>
            </a:r>
            <a:r>
              <a:rPr b="1" i="0" sz="950">
                <a:solidFill>
                  <a:srgbClr val="3182CE"/>
                </a:solidFill>
                <a:latin typeface="Segoe UI"/>
              </a:rPr>
              <a:t>  ➔  </a:t>
            </a:r>
            <a:r>
              <a:rPr b="1" i="0" sz="900">
                <a:solidFill>
                  <a:srgbClr val="1A365D"/>
                </a:solidFill>
                <a:latin typeface="Segoe UI"/>
              </a:rPr>
              <a:t>[Validation &amp; Sanitization]</a:t>
            </a:r>
            <a:r>
              <a:rPr b="1" i="0" sz="950">
                <a:solidFill>
                  <a:srgbClr val="3182CE"/>
                </a:solidFill>
                <a:latin typeface="Segoe UI"/>
              </a:rPr>
              <a:t>  ➔  </a:t>
            </a:r>
            <a:r>
              <a:rPr b="1" i="0" sz="900">
                <a:solidFill>
                  <a:srgbClr val="1A365D"/>
                </a:solidFill>
                <a:latin typeface="Segoe UI"/>
              </a:rPr>
              <a:t>[MySQL DB Entities]</a:t>
            </a:r>
            <a:r>
              <a:rPr b="1" i="0" sz="950">
                <a:solidFill>
                  <a:srgbClr val="3182CE"/>
                </a:solidFill>
                <a:latin typeface="Segoe UI"/>
              </a:rPr>
              <a:t>  ➔  </a:t>
            </a:r>
            <a:r>
              <a:rPr b="1" i="0" sz="900">
                <a:solidFill>
                  <a:srgbClr val="1A365D"/>
                </a:solidFill>
                <a:latin typeface="Segoe UI"/>
              </a:rPr>
              <a:t>[Analytics Engine]</a:t>
            </a:r>
            <a:r>
              <a:rPr b="1" i="0" sz="950">
                <a:solidFill>
                  <a:srgbClr val="3182CE"/>
                </a:solidFill>
                <a:latin typeface="Segoe UI"/>
              </a:rPr>
              <a:t>  ➔  </a:t>
            </a:r>
            <a:r>
              <a:rPr b="1" i="0" sz="900">
                <a:solidFill>
                  <a:srgbClr val="1A365D"/>
                </a:solidFill>
                <a:latin typeface="Segoe UI"/>
              </a:rPr>
              <a:t>[Stakeholder Outputs]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INPUT CONTROL CATALOG &amp; VALIDATION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Standardized Input Architecture &amp; UI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011680"/>
                <a:gridCol w="2377440"/>
                <a:gridCol w="2651760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Control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HTML / Component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Target Database Binding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Client Validation Tier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Server Validation &amp; Security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Single-Line Text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&lt;input type='text'&gt;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scas_users.name / roll_no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required, maxlength, pattern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strip(), XSS escape, regex checks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Masked Secret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&lt;input type='password'&gt;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scas_users.password_hash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minlength='8', complexity meter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Scrypt hash (scrypt:32768:8:1)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Email Identifier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&lt;input type='email'&gt;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scas_users.email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HTML5 email regex RFC 5322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DNS domain lookup, uniqueness test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Calendar Date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&lt;input type='date'&gt;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scas_attendance.date, leave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min/max bounds, format YYYY-MM-DD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datetime.strptime validation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Searchable Select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&lt;select&gt; dropdown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course_id, batch_id, faculty_id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required selection (!= '')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FK existence check in DB session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Binary Switch Toggle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&lt;input type='checkbox/radio'&gt;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scas_attendance.status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Default checked state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Enum constraint ('Present'/'Absent')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Numeric Score Box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&lt;input type='number' step='0.5'&gt;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scas_marks.marks_obtained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min='0', max=max_marks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Float cast, range: 0.0 &lt;= mark &lt;= max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Multi-Part File Drop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&lt;input type='file' accept='.csv'&gt;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Batch Ingestion Buffer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File extension filter (.csv)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MIME check, UTF-8 parse, rollback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Multi-Line Text Area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&lt;textarea rows='4'&gt;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scas_leave_applications.reason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maxlength='500', char counter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HTML entity encoding, SQL escape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🛡️ DEFENSIVE THREE-TIER VALIDATION ARCHITECTURE</a:t>
            </a:r>
          </a:p>
          <a:p>
            <a:pPr>
              <a:spcBef>
                <a:spcPts val="400"/>
              </a:spcBef>
            </a:pPr>
            <a:r>
              <a:rPr b="1" i="0" sz="900">
                <a:solidFill>
                  <a:srgbClr val="1A365D"/>
                </a:solidFill>
                <a:latin typeface="Segoe UI"/>
              </a:rPr>
              <a:t>• Tier 1 (Client):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Instant browser validation preventing unnecessary HTTP requests; dynamic DOM error indicators. </a:t>
            </a:r>
            <a:r>
              <a:rPr b="1" i="0" sz="900">
                <a:solidFill>
                  <a:srgbClr val="3182CE"/>
                </a:solidFill>
                <a:latin typeface="Segoe UI"/>
              </a:rPr>
              <a:t>• Tier 2 (Flask Server):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Sanitization, role decorator verification (@role_required), cryptographic token checks, flash messages. </a:t>
            </a:r>
            <a:r>
              <a:rPr b="1" i="0" sz="900">
                <a:solidFill>
                  <a:srgbClr val="16A34A"/>
                </a:solidFill>
                <a:latin typeface="Segoe UI"/>
              </a:rPr>
              <a:t>• Tier 3 (Database):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Strict MySQL relational schema, Foreign Key cascade rules, and unique index constraints prevent corrupt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AUTHENTICATION &amp; ACCESS CONTROL (AUTH)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1: System Authentication &amp; Portal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username / email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VARCHAR(120)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Accepts either unique username or email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password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Password Box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VARCHAR(255)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Masked chars; checked against Scrypt hash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remember_me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Checkbox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BOOLEAN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Preserves Flask session cookie across restart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csrf_token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Hidden Field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VARCHAR(64)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Synchronizer Token Pattern CSRF prevention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943600" cy="25603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🔒 AUTHENTICATION LOGIC &amp; ROLE ROUTING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Scrypt Hash Verification: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Passwords validated via check_password_hash() (Werkzeug). Plaintext is never stored or logged.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Multi-Role Gateway: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Single unified entry point automatically inspects session['role'] and redirects to /admin, /faculty, or /student.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Brute-Force Mitigation: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Failed login increments attempt counter; flash warnings alert users without revealing account existence.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SCAS - Secure Institutional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ALL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USERNAME OR INSTITUTIONAL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admin@college.edu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2724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31012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••••••••••••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40740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ROLE SELECTOR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59028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Administrator / Faculty / 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460857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Sign In to Portal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CREDENTIAL LIFECYCLE (AUTH)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2: Self-Service Password Recovery &amp;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registered_email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Email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VARCHAR(120)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Must exist in scas_users; RFC 5322 regex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reset_token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URL / Hidden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VARCHAR(255)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URL-safe HMAC token; 3600s TTL expiry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new_password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Password Box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VARCHAR(80)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Min 8 chars, 1 uppercase, 1 digit, 1 symbol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confirm_password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Password Box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VARCHAR(80)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Must match new_password exactly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943600" cy="25603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🔑 CRYPTOGRAPHIC TOKEN WORKFLOW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itsdangerous TimedSerializer: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Generates signed token encoding user email and timestamp with secret salt.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1-Hour Expiration: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Tokens older than 3600 seconds trigger SignatureExpired exception and are rejected.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Transactional Dispatch: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Delivers tokenized reset link via SMTP (or transactional mock transport in sent_emails.log).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Self-Service Password Reset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ALL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REGISTERED INSTITUTIONAL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student@college.edu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80720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ENTER SECURITY RESET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99008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arvpQQ.T52BADI8Hexb6GsFdLe...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6732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NEW SECURE PASSWORD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95020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••••••••••••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72744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CONFIRM NEW PASSWORD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91032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••••••••••••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Reset &amp; Save Password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USER ACCOUNT SECURITY (SHARED)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3: In-App User Profile &amp; Credential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57150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current_password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Password Box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VARCHAR(255)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Verified against active session user hash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new_password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Password Box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VARCHAR(80)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Must differ from current; min 8 characters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confirm_password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Password Box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VARCHAR(80)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Exact match check on client &amp; server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657600"/>
            <a:ext cx="5943600" cy="2651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🛡️ SESSION VALIDATION &amp; AUDITING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Zero Privilege Escalation: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Users can only alter their own credentials bound to session['user_id'].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Non-Reuse Policy: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Prevents setting new password identical to current hash to enforce credential rotation.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Audit Telemetry: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Successful password updates flash an affirmative alert and log an event in server activity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In-App Password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AUTHENTICATED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CURRENT PASSWORD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••••••••••••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2724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NEW 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31012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Enter at least 8 chars...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40740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CONFIRM NEW PASSWORD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59028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Re-enter new password...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Update Password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USER LIFECYCLE MANAGEMENT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4: Admin Account Creation &amp; Credential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391885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VARCHAR(100)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Full legal institutional name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username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VARCHAR(80)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Unique login identifier across system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email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Email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VARCHAR(120)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Globally unique contact email address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Enum selector: 'faculty' or 'student'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department / roll_no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VARCHAR(100/30)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Dept for faculty; unique Roll No for student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batch_id / course_id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COND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Required if student; maps to scas_batches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5943600" cy="21945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⚙️ AUTOMATED PROVISIONING LOGIC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Atomic Multi-Table Insert: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Inserts into scas_users and simultaneously creates 1:1 profile in faculty or student profile table.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Temporary Credential Dispatch: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Generates random default password and triggers email dispatch with login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Create New User 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FULL LEGAL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Prof. CD Patel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15184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EMAIL ADDRESS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798064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cdpatel@college.edu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383280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PORTAL 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566160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Faculty 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358444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151376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DEPARTMENT / DESIGNATION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334256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Computer Applications | Professor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919472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AUTO-EMAIL CREDENTIALS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102352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☑ Send temporary credentials via email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Provision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BATCH IMPORT &amp; DATA PIPELINE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5: Bulk CSV Data Ingestion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csv_file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File Dropzone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MIME: text/csv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Max 5MB file; UTF-8 encoding mandatory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import_entity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ENUM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Target: 'students', 'faculty', 'subjects', 'marks'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header_mapping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Auto-Detected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ARRAY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Validates presence of required schema headers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on_conflict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Radio Group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ENUM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'Skip duplicates' or 'Update existing records'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943600" cy="25603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⚡ BATCH PARSING &amp; ERROR RESILIENCE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Streaming Row Validation: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Inspects each row for missing cells, bad emails, or duplicate roll numbers before staging.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Transactional Isolation: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Utilizes db.session.begin_nested() to guarantee partial rollback if corrupt records occur.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Error Log Telemetry: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Generates detailed error report showing specific row index and offending column for bad rows.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Bulk CSV Upload Portal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SELECT UPLOAD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Student Enrollment Roster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0482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0720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ATTACH CSV SPREADSHEET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99008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students_mca_2026.csv (24.5 KB)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6732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CONFLICT RESOLUTION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95020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Skip existing duplicates and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396849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2744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VALIDATION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91032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✓ 60 Rows Detected | Headers Match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Upload &amp; Import Roster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ACADEMIC SETUP &amp; CURRICULUM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6: Academic Program, Batch &amp; Curriculum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391885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course.name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VARCHAR(100)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Degree name: 'Master of Computer Applications'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course.code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Unique uppercase course code: 'MCA'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batch.name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VARCHAR(50)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Cohort label: 'MCA 2024-2026'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batch.year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Number Box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Graduation calendar year (e.g. 2026)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subject.name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VARCHAR(100)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Curriculum course title (e.g. 'Compiler Design')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subject.faculty_id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Foreign key linking assigned teacher (scas_users.id)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5943600" cy="21945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🏛️ RELATIONAL CURRICULUM CONSTRAINTS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Hierarchical 1:N Cascades: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Course ➔ Batches ➔ Students. Subject ➔ Attendance, Marks, Schedules.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Faculty Isolation: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Assigning faculty_id in scas_subjects enforces RBAC boundary so faculty only evaluate their subjects.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Curriculum &amp; Faculty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COURSE / DEGREE PROGRAM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Master of Computer Applications (MCA)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0482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0720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ACADEMIC BATCH COHORT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99008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MCA 2024-2026 (Passing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300837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76732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SUBJECT TITLE &amp;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95020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Theory of Computation (MCA-104)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2744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ASSIGNED FACULTY MEMBER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91032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Dr. CD Patel (cdpatel@college.edu)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492861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Save Academic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ATTENDANCE REGISTER ENGINE (FACULTY)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7: Faculty Daily Class Attendance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subject_id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Faculty assigned subject selector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batch_id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Target academic cohort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date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Date Picker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DATE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Lecture session date (defaults to today)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status[student_id]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Toggle Switches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Radio/switch: 'Present' or 'Absent' per student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943600" cy="25603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⚡ ERGONOMIC ATTENDANCE DISPATCH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Bulk 'Mark All Present' Switch: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One-click toggle presets all enrolled students to 'Present'; faculty only marks absentees.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Duplicate Safeguard: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Composite unique check (student_id, subject_id, date) prevents accidental double-submission.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Live Metric Re-calculation: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Submitting attendance immediately refreshes student attendance percentages and AI risk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Daily Class Attendance Register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FACULTY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SELECT ASSIGNED SUBJECT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Theory of Computation (MCA-104)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0482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15184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CLASS ATTENDANCE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798064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2026-09-29 (Today)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83280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QUICK MASTER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566160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☑ Toggle All Present (Fast Mark)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151376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STUDENT 1: MCA24004 - HIMANSHU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334256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● Present  ○ Absent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919472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STUDENT 2: MCA24005 - JIGNESH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102352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● Present  ○ Absent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Submit Attendance Sheet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EXAMINATION &amp; EVALUATION (FACULTY)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8: Continuous Internal Evaluation (CIE)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2672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subject_id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Assigned subject selector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exam_type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 / Tabs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VARCHAR(30)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'Midterm 1', 'Midterm 2', 'Assignment', 'Final'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max_marks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Numeric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FLOAT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Benchmark total (30 for Midterm, 20 for Assign)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marks_obtained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Numeric Grid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FLOAT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Numeric score achieved per student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student_id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Hidden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Foreign key linking student profile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5943600" cy="23774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📈 MATHEMATICAL RANGE VALIDATION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Boundary Integrity: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JavaScript and SQLAlchemy constraints enforce 0.0 &lt;= marks_obtained &lt;= max_marks.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Live Class Statistics: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Real-time client calculations compute class average, highest score, and passing % as marks are typed.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Marks &amp; CIE Evaluation Entry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FACULTY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ASSIGNED SUBJECT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Compiler Design (MCA-105)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0482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15184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ASSESSMENT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798064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Midterm Examination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281635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MAXIMUM BENCHMARK MARKS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566160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30.0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51376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MCA24004 - HIMANSHU GOSWAMI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334256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Score: 26.0 / 30.0  (86.6%)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919472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MCA24005 - JIGNESH SATHAVARA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102352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Score: 28.0 / 30.0  (93.3%)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Save &amp; Lock Marks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SCHEDULING &amp; RESOURCE ALLOCATION (FACULTY/ADMIN)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9: Weekly Lecture Timetable &amp; Room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2672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subject_id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Subject to be scheduled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batch_id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Cohort batch receiving the lecture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day_of_week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Day: 'Monday', 'Tuesday', ..., 'Friday'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start_time / end_time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Time Picker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Slot interval (e.g. '09:00 AM' to '10:30 AM')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room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 Input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Classroom or lab (e.g. 'Lab 3', 'Room 204')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5943600" cy="23774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🗓️ CONFLICT DETECTION ENGINE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Classroom Collision Prevention: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Prevents scheduling two lectures in the same room at the same day and time interval.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Faculty Dual-Booking Guard: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Validates that assigned faculty is not already booked for another subject during that slot.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Class Timetable Slot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FACULTY /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CURRICULUM SUBJECT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Theory of Computation (MCA-104)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0482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15184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TARGET BATCH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798064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MCA 2024-2026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281635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LECTURE 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566160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Monday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358444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51376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TIME WINDOW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334256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09:00 AM – 10:30 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919472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CLASSROOM / LAB VENUE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102352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Advanced Computing Lab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Add Schedule Slot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FINANCIAL TRANSACTION GATEWAY (STUDENT)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10: Student Online Fee Payment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2672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student_id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Read-Only / Token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Authenticated student identity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amount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Read-Only / Currency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FLOAT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Outstanding semester fee balance (₹65,000)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payment_mode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Radio / Tabs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'UPI QR', 'Credit/Debit Card', 'Net Banking'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card_or_upi_id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Masked Input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VARCHAR(50)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Banking reference / card details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transaction_id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Generated / Ext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VARCHAR(50)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Unique transaction reference (TXN-984712-SUCCESS)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5943600" cy="23774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💳 AUDIT TRAILS &amp; IDEMPOTENCY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Idempotent Transactions: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Unique constraints on receipt_no and transaction_id prevent duplicate fee deduction.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Instant Clearance: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Successful payment updates status='Paid', generates receipt, and clears hall ticket dues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Secure Fee Payment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STUDENT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MCA24005 – Jignesh Sathavara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15184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FEE INVOICE BREAKDOWN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798064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Semester 1 Tuition &amp; Lab Dues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383280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TOTAL AMOUNT PAYABLE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566160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₹ 65,000.00 INR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151376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PAYMENT GATEWAY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334256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Instant UPI / NetBanking / Debit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435254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919472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CARD NUMBER / UPI HANDLE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102352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4532 •••• •••• 8821  |  12/28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Pay ₹65,000 &amp; Get Receipt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LEAVE APPLICATION WORKFLOW (STUDENT / FACULTY)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11: Institutional Leave Application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2672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user_id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Session Binding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Authenticated applicant (scas_users.id)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leave_type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VARCHAR(50)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'Sick Leave', 'Casual Leave', 'Duty Leave'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start_date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Date Picker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DATE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First day of proposed absence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end_date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Date Picker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DATE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Final day of absence (start_date &lt;= end_date)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reason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Textarea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TEXT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Detailed written explanation &amp; doctor note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5943600" cy="23774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📋 APPROVAL WORKFLOW INTEGRATION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Chronological Validation: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Prevents start_date in past or end_date &lt; start_date; calculates total calendar days.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Duty Leave Waiver Credit: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Approved 'Duty Leave' automatically flags attendance waivers in student compliance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Leave Application Portal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ALL APPLICANTS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LEAVE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Sick Leave (Medical Certificate Attached)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0482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15184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ABSENCE START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798064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2026-10-02 (Friday)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83280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ABSENCE END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566160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2026-10-04 (Sunday)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151376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DETAILED JUSTIFICATION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334256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Medical appointment and dental procedure.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919472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WORKFLOW REVIEWER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102352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Assigned: Dean System Administrator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Submit for Approval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DIAGNOSTIC TEST ENGINE (STUDENT)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Input Design 12: Continuous Diagnostic Unit Assessment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914400"/>
                <a:gridCol w="457200"/>
                <a:gridCol w="2194560"/>
              </a:tblGrid>
              <a:tr h="42672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Field /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UI Control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Req?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Rules &amp;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unit_number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Dropdown / Tabs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Target unit sequence (Unit 1 to Unit 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test_type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Radio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VARCHAR(20)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Diagnostic mode: 'pre-test' or 'post-test'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total_questions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Hidden Constant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INT(11)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Standardized 25 multiple-choice questions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selected_options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Radio Array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VARCHAR(1)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Radio choice per item ('A', 'B', 'C', 'D')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submitted_at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System Timestamp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Telemetry timestamp for speed &amp; placement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5943600" cy="23774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🎯 REAL-TIME MASTERY SCORING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Automated Grading: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Calculates score, percentage = (score / 25) * 100, and categorizes mastery level immediately.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Growth Delta Analysis: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Compares pre-test vs post-test score differential to measure learning velocity per chapter.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0"/>
            <a:ext cx="4480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4805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1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1216152"/>
            <a:ext cx="3794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Online Unit Diagnostic Exam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91056"/>
            <a:ext cx="2011680" cy="228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4338CA"/>
                </a:solidFill>
              </a:defRPr>
            </a:pPr>
            <a:r>
              <a:t>ROLE: 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47088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DIAGNOSTIC CURRICULUM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29968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Unit 2: Lexical Analysis &amp; Finite Automata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0482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15184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ASSESSMENT MODE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798064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● Post-Test Diagnostic   ○ Pre-Test Diagnostic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83280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QUESTION 1 OF 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566160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>
                <a:solidFill>
                  <a:srgbClr val="1E293B"/>
                </a:solidFill>
              </a:defRPr>
            </a:pPr>
            <a:r>
              <a:t>What is the primary function of a lexical analyzer?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151376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OPTIONS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334256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○ Syntax Tree  ● Token Stream  ○ Parsing  ○ Code 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919472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</a:defRPr>
            </a:pPr>
            <a:r>
              <a:t>TIME REMAINING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102352"/>
            <a:ext cx="411480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⏱ 18 minutes 42 seconds left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870448"/>
            <a:ext cx="4114800" cy="310896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Submit Diagnostic 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OUTPUT TAXONOMY &amp; DELIVERY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Standardized Output Architecture &amp; Reporting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📊 1. Real-Time Interactive Dashboards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Role-specific views for Admin, Faculty, and Students.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High-impact KPI tiles, dynamic donut enrollment charts, and live activity streams.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Instant reactivity on attendance or marks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🤖 2. Predictive AI Analytics Displays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Automated student academic risk classification (High, Medium, Low).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45% Attendance + 55% Midterm weighted decision heuristics.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Actionable intervention alerts to prevent course dropouts.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📄 3. Official Printable Documents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Semester Grade Sheets / Official Transcripts with SGPA/CGPA calculations.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Official Fee Payment Receipt Vouchers with banking transaction IDs and stamps.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Print-optimized CSS (@media print) with formal typography.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84048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📧 4. Automated Transactional Emails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Account Welcome &amp; Credential Dispatch (Single/Bulk).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Cryptographic Password Reset Links (1-hour expiry).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Low Attendance Compliance Defaulter Notices sent directly to students &amp; guardians.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EXECUTIVE KPI MONITORING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Output Design 1: Executive Administrator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1645920"/>
              </a:tblGrid>
              <a:tr h="39624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Output Component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Metric / Display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Source DB Tables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Business Utility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Total Students KPI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Live Count Badge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scas_student_profiles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Institutional enrollment tracking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Faculty Count KPI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Live Count Badge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scas_faculty_profiles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Staffing &amp; faculty ratio analysis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Course Revenue KPI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Currency Stat (₹)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scas_fee_payments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Financial collection monitoring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Program Donut Chart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Visual Chart (Chart.js)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scas_courses, batches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Cohort distribution across degrees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System Audit Stream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Timestamped Feed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scas_users, leaves, pay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Compliance auditing &amp; activity logs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486400" cy="25603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📊 EXECUTIVE DECISION HIGHLIGHTS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Single-Pane Governance: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Dean administrators view high-level institutional health across academics, finance, and attendance in real time.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One-Click Batch Dispatch: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Executive action buttons enable single-click credential dispatch to all newly admitted students.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Financial Clearance Visibility: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Instantly isolates pending dues from collected fees to support fiscal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49377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019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45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1216152"/>
            <a:ext cx="4251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Admin Analytics Portal – Executive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45920"/>
            <a:ext cx="2103120" cy="685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rIns="73152" bIns="73152"/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TOTAL STUDENTS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60 Enrolled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103120" cy="685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rIns="73152" bIns="73152"/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FACULTY MEMBERS</a:t>
            </a:r>
          </a:p>
          <a:p>
            <a:pPr>
              <a:defRPr sz="1100" b="1">
                <a:solidFill>
                  <a:srgbClr val="3182CE"/>
                </a:solidFill>
              </a:defRPr>
            </a:pPr>
            <a:r>
              <a:t>12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468880"/>
            <a:ext cx="2103120" cy="685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rIns="73152" bIns="73152"/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FEE REVENUE</a:t>
            </a:r>
          </a:p>
          <a:p>
            <a:pPr>
              <a:defRPr sz="1100" b="1">
                <a:solidFill>
                  <a:srgbClr val="7E22CE"/>
                </a:solidFill>
              </a:defRPr>
            </a:pPr>
            <a:r>
              <a:t>₹ 7,80,000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468880"/>
            <a:ext cx="2103120" cy="685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rIns="73152" bIns="73152"/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PENDING DUES</a:t>
            </a:r>
          </a:p>
          <a:p>
            <a:pPr>
              <a:defRPr sz="1100" b="1">
                <a:solidFill>
                  <a:srgbClr val="DC2626"/>
                </a:solidFill>
              </a:defRPr>
            </a:pPr>
            <a:r>
              <a:t>₹ 1,30,000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383280"/>
            <a:ext cx="4572000" cy="12801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850" b="1">
                <a:solidFill>
                  <a:srgbClr val="1A365D"/>
                </a:solidFill>
              </a:defRPr>
            </a:pPr>
            <a:r>
              <a:t>📈 PROGRAM ENROLLMENT BREAKDOWN</a:t>
            </a:r>
          </a:p>
          <a:p>
            <a:pPr>
              <a:spcBef>
                <a:spcPts val="400"/>
              </a:spcBef>
              <a:defRPr sz="800">
                <a:solidFill>
                  <a:srgbClr val="1E293B"/>
                </a:solidFill>
              </a:defRPr>
            </a:pPr>
            <a:r>
              <a:t>■ MCA (Postgrad): 65%   ■ BCA: 25%   ■ M.Tech: 10%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754880"/>
            <a:ext cx="45720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850" b="1">
                <a:solidFill>
                  <a:srgbClr val="1A365D"/>
                </a:solidFill>
              </a:defRPr>
            </a:pPr>
            <a:r>
              <a:t>🕒 RECENT SYSTEM ACTIVITY FEED</a:t>
            </a:r>
          </a:p>
          <a:p>
            <a:pPr>
              <a:spcBef>
                <a:spcPts val="200"/>
              </a:spcBef>
              <a:defRPr sz="750">
                <a:solidFill>
                  <a:srgbClr val="64748B"/>
                </a:solidFill>
              </a:defRPr>
            </a:pPr>
            <a:r>
              <a:t>• Fee Payment of ₹65,000 confirmed for MCA24005 (TXN-984712)</a:t>
            </a:r>
          </a:p>
          <a:p>
            <a:pPr>
              <a:spcBef>
                <a:spcPts val="200"/>
              </a:spcBef>
              <a:defRPr sz="750">
                <a:solidFill>
                  <a:srgbClr val="64748B"/>
                </a:solidFill>
              </a:defRPr>
            </a:pPr>
            <a:r>
              <a:t>• Daily Attendance recorded for MCA-104 (58 Present, 2 Absent)</a:t>
            </a:r>
          </a:p>
          <a:p>
            <a:pPr>
              <a:spcBef>
                <a:spcPts val="200"/>
              </a:spcBef>
              <a:defRPr sz="750">
                <a:solidFill>
                  <a:srgbClr val="64748B"/>
                </a:solidFill>
              </a:defRPr>
            </a:pPr>
            <a:r>
              <a:t>• Sick Leave Application submitted by Himanshu Goswami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PREDICTIVE ACADEMIC ANALYTICS (FACULTY)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Output Design 2: Faculty Dashboard &amp; AI Student Dropout Risk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9728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Risk Tier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Score Range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Visual Badge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Required Intervention Strategy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High Academic Risk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Score &gt;= 65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🔴 RED BADGE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Urgent 1-on-1 counseling &amp; guardian email alert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Medium Academic Risk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40 &lt;= Score &lt; 65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🟡 YELLOW BADGE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Remedial assignment &amp; tutorial class scheduling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Low Academic Risk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Score &lt; 40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🟢 GREEN BADGE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Normal academic progression &amp; peer mentorship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383280"/>
            <a:ext cx="5486400" cy="29260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🤖 PREDICTIVE AI DECISION HEURISTIC FORMULA</a:t>
            </a:r>
          </a:p>
          <a:p>
            <a:pPr>
              <a:spcBef>
                <a:spcPts val="600"/>
              </a:spcBef>
            </a:pPr>
            <a:r>
              <a:rPr b="1" i="0" sz="900">
                <a:solidFill>
                  <a:srgbClr val="4338CA"/>
                </a:solidFill>
                <a:latin typeface="Consolas"/>
              </a:rPr>
              <a:t>Risk_Score = [ 0.45 × (100 - Attendance_%) ] + [ 0.55 × (100 - Midterm_% ) ]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45% Attendance Weighting: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Reflects classroom engagement and regulatory exam eligibility (&lt; 75% triggers penalty).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55% Academic Score Weighting: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Measures conceptual mastery across Midterm 1 &amp; Midterm 2 evaluations.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Proactive Prevention: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Identifies vulnerable students at week 4 before end-semester exam failure occurs.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49377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019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45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1216152"/>
            <a:ext cx="4251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Faculty Portal – AI Academic Risk Monitor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45920"/>
            <a:ext cx="45720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800" b="1">
                <a:solidFill>
                  <a:srgbClr val="1A365D"/>
                </a:solidFill>
              </a:defRPr>
            </a:pPr>
            <a:r>
              <a:t>📚 Assigned: MCA-104 Theory of Computation | Batch: MCA 2024-2026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194560"/>
            <a:ext cx="4572000" cy="1280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900" b="1">
                <a:solidFill>
                  <a:srgbClr val="DC2626"/>
                </a:solidFill>
              </a:defRPr>
            </a:pPr>
            <a:r>
              <a:t>🔴 HIGH DROPOUT RISK: Roll No MCA24004 (Himanshu)</a:t>
            </a:r>
          </a:p>
          <a:p>
            <a:pPr>
              <a:spcBef>
                <a:spcPts val="300"/>
              </a:spcBef>
              <a:defRPr sz="780">
                <a:solidFill>
                  <a:srgbClr val="1E293B"/>
                </a:solidFill>
              </a:defRPr>
            </a:pPr>
            <a:r>
              <a:t>• Attendance: 62.5% (Below 75% Statutory Limit) | Midterm: 58.0%</a:t>
            </a:r>
            <a:br/>
            <a:r>
              <a:t>• Computed Risk Score: 68.4 / 100</a:t>
            </a:r>
            <a:br/>
            <a:r>
              <a:t>• Action Recommended: Send Formal Guardian Alert &amp; Schedule Remedial Lab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566160"/>
            <a:ext cx="4572000" cy="1188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🟢 LOW RISK (ON TRACK): Roll No MCA24005 (Jignesh)</a:t>
            </a:r>
          </a:p>
          <a:p>
            <a:pPr>
              <a:spcBef>
                <a:spcPts val="300"/>
              </a:spcBef>
              <a:defRPr sz="780">
                <a:solidFill>
                  <a:srgbClr val="1E293B"/>
                </a:solidFill>
              </a:defRPr>
            </a:pPr>
            <a:r>
              <a:t>• Attendance: 93.3% (Compliant) | Midterm: 91.5%</a:t>
            </a:r>
            <a:br/>
            <a:r>
              <a:t>• Computed Risk Score: 18.2 / 100</a:t>
            </a:r>
            <a:br/>
            <a:r>
              <a:t>• Academic Status: Eligible for Advanced Research / Merit Honor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937760"/>
            <a:ext cx="4572000" cy="36576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Export Defaulters Roster &amp; Email Guardian Warnings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STUDENT ACADEMIC EXPERIENCE (STUDENT)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Output Design 3: Student Academic Portal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164592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Dashboard Element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Display Format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Source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Student Objective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Attendance Progress Gauge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Radial Dial (75% goal)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scas_attendance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Track exam eligibility threshold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Cumulative GPA (CGPA)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Numerical Badge (8.8/10)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scas_results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View cumulative academic standing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Today's Timetable Card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Class Schedule Grid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scas_schedules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Locate daily lectures &amp; room numbers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Fee Clearance Alert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Status Ribbon (Paid)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scas_fee_payments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Verify hall ticket financial release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566160"/>
            <a:ext cx="5486400" cy="27432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📱 STUDENT SELF-SERVICE EMPOWERMENT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75% Statutory Compliance Dial: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Immediate red color-shift if attendance drops below 75%, notifying student to submit medical leave.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One-Click Receipt Download: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Students download officially stamped PDF fee receipts without visiting the college finance office.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Semester Scorecard Viewer: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Displays official credits, letter grades (O, A+, A), and SGPA calculation instantaneously.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49377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019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45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1216152"/>
            <a:ext cx="4251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Student Academic Portal –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45920"/>
            <a:ext cx="4572000" cy="5943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👋 Welcome back, Jignesh Sathavara (Roll: MCA24005)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Master of Computer Applications | Cohort 2024-2026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377440"/>
            <a:ext cx="2194560" cy="1280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ATTENDANCE</a:t>
            </a:r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93.3 %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✓ Eligible for Semester Exam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377440"/>
            <a:ext cx="2194560" cy="12801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800" b="1">
                <a:solidFill>
                  <a:srgbClr val="3182CE"/>
                </a:solidFill>
              </a:defRPr>
            </a:pPr>
            <a:r>
              <a:t>CURRENT CGPA</a:t>
            </a:r>
          </a:p>
          <a:p>
            <a:pPr>
              <a:defRPr sz="1800" b="1">
                <a:solidFill>
                  <a:srgbClr val="3182CE"/>
                </a:solidFill>
              </a:defRPr>
            </a:pPr>
            <a:r>
              <a:t>8.80 / 10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Grade: A+ (First Class with Dist.)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840480"/>
            <a:ext cx="45720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850" b="1">
                <a:solidFill>
                  <a:srgbClr val="1A365D"/>
                </a:solidFill>
              </a:defRPr>
            </a:pPr>
            <a:r>
              <a:t>📅 TODAY'S LECTURE TIMETABLE</a:t>
            </a:r>
          </a:p>
          <a:p>
            <a:pPr>
              <a:spcBef>
                <a:spcPts val="200"/>
              </a:spcBef>
              <a:defRPr sz="780">
                <a:solidFill>
                  <a:srgbClr val="1E293B"/>
                </a:solidFill>
              </a:defRPr>
            </a:pPr>
            <a:r>
              <a:t>• 09:00 AM – 10:30 AM: Theory of Computation (Lab 3)</a:t>
            </a:r>
          </a:p>
          <a:p>
            <a:pPr>
              <a:spcBef>
                <a:spcPts val="200"/>
              </a:spcBef>
              <a:defRPr sz="780">
                <a:solidFill>
                  <a:srgbClr val="1E293B"/>
                </a:solidFill>
              </a:defRPr>
            </a:pPr>
            <a:r>
              <a:t>• 11:00 AM – 12:30 PM: Compiler Design (Room 204)</a:t>
            </a:r>
          </a:p>
          <a:p>
            <a:pPr>
              <a:spcBef>
                <a:spcPts val="200"/>
              </a:spcBef>
              <a:defRPr sz="780">
                <a:solidFill>
                  <a:srgbClr val="1E293B"/>
                </a:solidFill>
              </a:defRPr>
            </a:pPr>
            <a:r>
              <a:t>• Financial Status: Fee Paid (Receipt #REC-MCA24005-CSV)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EXAMINATION &amp; TRANSCRIPT ENGINE (EXAM)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Output Design 4: Semester Grade Sheet &amp; Official Academic Transcript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97280"/>
                <a:gridCol w="2011680"/>
              </a:tblGrid>
              <a:tr h="39624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Marks Range (%)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Letter Grade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Grade Points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Academic Classification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&gt;= 90.0 %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Grade 'O'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10.0 Points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Outstanding Performance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80.0 – 89.9 %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Grade 'A+'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9.0 Points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Excellent Mastery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70.0 – 79.9 %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Grade 'A'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8.0 Points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Very Good Standing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60.0 – 69.9 %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Grade 'B+'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7.0 Points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Good / Above Average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&lt; 50.0 %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Grade 'F'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0.0 Points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Fail / Backlog (Requires Re-exam)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486400" cy="25603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📐 SGPA / CGPA COMPUTATIONAL SPECIFICATIONS</a:t>
            </a:r>
          </a:p>
          <a:p>
            <a:pPr>
              <a:spcBef>
                <a:spcPts val="400"/>
              </a:spcBef>
            </a:pPr>
            <a:r>
              <a:rPr b="1" i="0" sz="900">
                <a:solidFill>
                  <a:srgbClr val="4338CA"/>
                </a:solidFill>
                <a:latin typeface="Consolas"/>
              </a:rPr>
              <a:t>SGPA = ∑ ( Grade_Point_i × Credits_i ) / ∑ ( Credits_i )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Credit-Weighted Calculation: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Standard courses carry 4.0 academic credits. Sum of credit-points divides by total registered semester credits.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Tamper-Proof Print Styling: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Rendered via @media print CSS with university crest watermark, eliminating navigation bars on physical print.</a:t>
            </a:r>
          </a:p>
          <a:p>
            <a:pPr>
              <a:spcBef>
                <a:spcPts val="4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Permanent Ledger Record: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Stored permanently in scas_results with foreign keys to scas_student_profiles and scas_subjects.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950" b="1">
                <a:solidFill>
                  <a:srgbClr val="1A365D"/>
                </a:solidFill>
              </a:defRPr>
            </a:pPr>
            <a:r>
              <a:t>SMART COLLEGE OF ENGINEERING &amp; TECHNOLOGY</a:t>
            </a:r>
          </a:p>
          <a:p>
            <a:pPr algn="ctr">
              <a:defRPr sz="850" b="1">
                <a:solidFill>
                  <a:srgbClr val="3182CE"/>
                </a:solidFill>
              </a:defRPr>
            </a:pPr>
            <a:r>
              <a:t>OFFICIAL SEMESTER GRADE STATEMENT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2011680"/>
          <a:ext cx="4572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A365D"/>
                          </a:solidFill>
                        </a:defRPr>
                      </a:pPr>
                      <a:r>
                        <a:t>Roll No: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E293B"/>
                          </a:solidFill>
                        </a:defRPr>
                      </a:pPr>
                      <a:r>
                        <a:t>MCA24005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A365D"/>
                          </a:solidFill>
                        </a:defRPr>
                      </a:pPr>
                      <a:r>
                        <a:t>Program: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E293B"/>
                          </a:solidFill>
                        </a:defRPr>
                      </a:pPr>
                      <a:r>
                        <a:t>MCA (Sem 1)</a:t>
                      </a:r>
                    </a:p>
                  </a:txBody>
                  <a:tcPr marL="18288" marR="18288" marT="18288" marB="18288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A365D"/>
                          </a:solidFill>
                        </a:defRPr>
                      </a:pPr>
                      <a:r>
                        <a:t>Student Name: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E293B"/>
                          </a:solidFill>
                        </a:defRPr>
                      </a:pPr>
                      <a:r>
                        <a:t>Jignesh Sathavara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A365D"/>
                          </a:solidFill>
                        </a:defRPr>
                      </a:pPr>
                      <a:r>
                        <a:t>Result Date: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E293B"/>
                          </a:solidFill>
                        </a:defRPr>
                      </a:pPr>
                      <a:r>
                        <a:t>2026-09-29</a:t>
                      </a:r>
                    </a:p>
                  </a:txBody>
                  <a:tcPr marL="18288" marR="18288" marT="18288" marB="18288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27432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54864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Subject Title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Credits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Score / 100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MCA-104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Theory of Computation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92.0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O (10.0)</a:t>
                      </a:r>
                    </a:p>
                  </a:txBody>
                  <a:tcPr marL="18288" marR="18288" marT="18288" marB="18288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MCA-105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Compiler Design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76.0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A (8.0)</a:t>
                      </a:r>
                    </a:p>
                  </a:txBody>
                  <a:tcPr marL="18288" marR="18288" marT="18288" marB="18288"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0" y="4023360"/>
            <a:ext cx="4572000" cy="8229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900" b="1">
                <a:solidFill>
                  <a:srgbClr val="1A365D"/>
                </a:solidFill>
              </a:defRPr>
            </a:pPr>
            <a:r>
              <a:t>SEMESTER SGPA: 9.00 / 10.00   |   CUMULATIVE CGPA: 9.00</a:t>
            </a:r>
          </a:p>
          <a:p>
            <a:pPr>
              <a:defRPr sz="750">
                <a:solidFill>
                  <a:srgbClr val="16A34A"/>
                </a:solidFill>
              </a:defRPr>
            </a:pPr>
            <a:r>
              <a:t>Total Credits Earned: 8 / 8   |   Academic Result: PASS (FIRST CLASS WITH DISTINCTION)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029200"/>
            <a:ext cx="4572000" cy="10058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Dean of Academic Affairs                    Controller of Examinations</a:t>
            </a:r>
            <a:br/>
            <a:r>
              <a:t>(Digital Cryptographic Seal)                 (Verified &amp; Approved)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FINANCIAL LEDGER &amp; RECEIPTS (FINANCE)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Output Design 5: Institutional Fee Payment Receipt Voucher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188720"/>
                <a:gridCol w="1463040"/>
              </a:tblGrid>
              <a:tr h="39624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Receipt Field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Voucher Format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Database Source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Audit Significance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Receipt Number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REC-MCA24005-CSV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scas_fee_payments.receipt_no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Unique institutional voucher audit number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Banking Reference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TXN-984712-SUCCESS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scas_fee_payments.transaction_id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External UPI/Bank reconciliation key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Student Identity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Roll No &amp; Full Name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scas_student_profiles, users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Matriculation account attribution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Payment Timestamp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UTC Date &amp; Time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scas_fee_payments.payment_date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Fiscal period clearance verification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Payment Status Seal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PAID &amp; VERIFIED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scas_fee_payments.status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Prerequisite for exam hall ticket release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486400" cy="25603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🧾 STATUTORY FINANCIAL RECONCILIATION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No-Dues Hall Ticket Integration: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Automated check validates status='Paid' before the student can download their final semester exam hall ticket.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Exportable Ledger Formats: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Receipts can be printed directly as verified PDF vouchers or exported into master administrative CSV accounts spreadsheets.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950" b="1">
                <a:solidFill>
                  <a:srgbClr val="1A365D"/>
                </a:solidFill>
              </a:defRPr>
            </a:pPr>
            <a:r>
              <a:t>SMART COLLEGE OF ENGINEERING &amp; TECHNOLOGY</a:t>
            </a:r>
          </a:p>
          <a:p>
            <a:pPr algn="ctr">
              <a:defRPr sz="850" b="1">
                <a:solidFill>
                  <a:srgbClr val="16A34A"/>
                </a:solidFill>
              </a:defRPr>
            </a:pPr>
            <a:r>
              <a:t>OFFICIAL TUITION FEE RECEIPT VOUCHER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201168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</a:tblGrid>
              <a:tr h="304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Receipt Number: REC-MCA24005-CSV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Transaction ID: TXN-984712-SUCCESS</a:t>
                      </a:r>
                    </a:p>
                  </a:txBody>
                  <a:tcPr marL="18288" marR="18288" marT="18288" marB="18288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Student: Jignesh Sathavara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Roll No: MCA24005 (MCA 2024-2026)</a:t>
                      </a:r>
                    </a:p>
                  </a:txBody>
                  <a:tcPr marL="18288" marR="18288" marT="18288" marB="18288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Payment Date: 2026-09-29 16:30 UTC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Payment Mode: Online Banking / UPI</a:t>
                      </a:r>
                    </a:p>
                  </a:txBody>
                  <a:tcPr marL="18288" marR="18288" marT="18288" marB="18288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3108960"/>
          <a:ext cx="4572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</a:tblGrid>
              <a:tr h="2971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Semester 1 Tuition &amp; Instruction Fee</a:t>
                      </a:r>
                    </a:p>
                  </a:txBody>
                  <a:tcPr marL="18288" marT="18288"/>
                </a:tc>
                <a:tc>
                  <a:txBody>
                    <a:bodyPr/>
                    <a:lstStyle/>
                    <a:p>
                      <a:pPr algn="r">
                        <a:defRPr sz="750"/>
                      </a:pPr>
                      <a:r>
                        <a:t>₹ 45,000.00</a:t>
                      </a:r>
                    </a:p>
                  </a:txBody>
                  <a:tcPr marL="18288" marT="18288"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Advanced Computer Laboratory &amp; Cloud Dues</a:t>
                      </a:r>
                    </a:p>
                  </a:txBody>
                  <a:tcPr marL="18288" marT="18288"/>
                </a:tc>
                <a:tc>
                  <a:txBody>
                    <a:bodyPr/>
                    <a:lstStyle/>
                    <a:p>
                      <a:pPr algn="r">
                        <a:defRPr sz="750"/>
                      </a:pPr>
                      <a:r>
                        <a:t>₹ 12,000.00</a:t>
                      </a:r>
                    </a:p>
                  </a:txBody>
                  <a:tcPr marL="18288" marT="18288"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Digital Library &amp; Institutional Sports Fund</a:t>
                      </a:r>
                    </a:p>
                  </a:txBody>
                  <a:tcPr marL="18288" marT="18288"/>
                </a:tc>
                <a:tc>
                  <a:txBody>
                    <a:bodyPr/>
                    <a:lstStyle/>
                    <a:p>
                      <a:pPr algn="r">
                        <a:defRPr sz="750"/>
                      </a:pPr>
                      <a:r>
                        <a:t>₹ 5,000.00</a:t>
                      </a:r>
                    </a:p>
                  </a:txBody>
                  <a:tcPr marL="18288" marT="18288"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University Examination &amp; Transcript Levy</a:t>
                      </a:r>
                    </a:p>
                  </a:txBody>
                  <a:tcPr marL="18288" marT="18288"/>
                </a:tc>
                <a:tc>
                  <a:txBody>
                    <a:bodyPr/>
                    <a:lstStyle/>
                    <a:p>
                      <a:pPr algn="r">
                        <a:defRPr sz="750"/>
                      </a:pPr>
                      <a:r>
                        <a:t>₹ 3,000.00</a:t>
                      </a:r>
                    </a:p>
                  </a:txBody>
                  <a:tcPr marL="18288" marT="18288"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0" y="4480560"/>
            <a:ext cx="4572000" cy="5029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TOTAL PAID: ₹ 65,000.00 INR   |   STATUS: PAID &amp;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12064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Finance Officer Signature: _______________________ (College Cashier Seal)</a:t>
            </a:r>
            <a:br/>
            <a:r>
              <a:t>System Generated E-Receipt – Verified via SCAS Financial Ledger.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ATTENDANCE REPORTING &amp; COMPLIANCE (FACULTY/ADMIN)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Output Design 6: Class Attendance Register &amp; Defaulter Compliance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371600"/>
                <a:gridCol w="155448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Report Field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Representation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Calculation Logic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Compliance Consequence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Delivered Lectures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Count Integer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Total sessions conducted in date range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Denominator for percentage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Attended Lectures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Count Integer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Total 'Present' logs for student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Numerator for percentage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Attendance Rate (%)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Percentage Stat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(Attended / Total) * 100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Must meet 75% threshold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Defaulter Flag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RED WARNING BADGE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Triggered if Attendance &lt; 75.0%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Hall ticket debarment notice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566160"/>
            <a:ext cx="5486400" cy="27432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⚠️ STATUTORY DEFAULTER AUDIT TRAIL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Institutional Regulatory Mandate: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University regulations mandate minimum 75% class attendance for exam eligibility.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Medical Leave Offsets: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Approved leave applications in scas_leave_applications adjust eligible hours.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CSV Export Capability: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Single-click download delivers full tabular matrix formatted for university academic board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49377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019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45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1216152"/>
            <a:ext cx="4251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Attendance Compliance &amp; Defaulter Register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45920"/>
            <a:ext cx="45720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750" b="1">
                <a:solidFill>
                  <a:srgbClr val="1A365D"/>
                </a:solidFill>
              </a:defRPr>
            </a:pPr>
            <a:r>
              <a:t>Course: MCA | Subject: Theory of Computation (MCA-104) | Month: Sept 2026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675120" y="219456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548640"/>
                <a:gridCol w="548640"/>
                <a:gridCol w="640080"/>
                <a:gridCol w="822960"/>
              </a:tblGrid>
              <a:tr h="5029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Roll No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Student Name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Att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Rate %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MCA24004</a:t>
                      </a:r>
                    </a:p>
                  </a:txBody>
                  <a:tcPr marL="18288" marR="18288" marT="18288" marB="18288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Himanshu Goswami</a:t>
                      </a:r>
                    </a:p>
                  </a:txBody>
                  <a:tcPr marL="18288" marR="18288" marT="18288" marB="18288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18288" marR="18288" marT="18288" marB="18288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18288" marR="18288" marT="18288" marB="18288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65.0%</a:t>
                      </a:r>
                    </a:p>
                  </a:txBody>
                  <a:tcPr marL="18288" marR="18288" marT="18288" marB="18288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DC2626"/>
                          </a:solidFill>
                        </a:defRPr>
                      </a:pPr>
                      <a:r>
                        <a:t>🔴 DEFAULTER</a:t>
                      </a:r>
                    </a:p>
                  </a:txBody>
                  <a:tcPr marL="18288" marR="18288" marT="18288" marB="18288">
                    <a:solidFill>
                      <a:srgbClr val="FE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MCA24005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Jignesh Sathavara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95.0%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6A34A"/>
                          </a:solidFill>
                        </a:defRPr>
                      </a:pPr>
                      <a:r>
                        <a:t>🟢 COMPLIANT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MCA24006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Rahul Sharma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85.0%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6A34A"/>
                          </a:solidFill>
                        </a:defRPr>
                      </a:pPr>
                      <a:r>
                        <a:t>🟢 COMPLIANT</a:t>
                      </a:r>
                    </a:p>
                  </a:txBody>
                  <a:tcPr marL="18288" marR="18288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675120" y="4389120"/>
            <a:ext cx="4572000" cy="8229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850" b="1">
                <a:solidFill>
                  <a:srgbClr val="1A365D"/>
                </a:solidFill>
              </a:defRPr>
            </a:pPr>
            <a:r>
              <a:t>📊 BATCH ATTENDANCE SUMMARY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• Total Enrolled: 60   |   Compliant (&gt;=75%): 54 (90%)   |   Defaulters (&lt;75%): 6 (10%)</a:t>
            </a:r>
            <a:br/>
            <a:r>
              <a:t>• Action: Warning letters generated automatically via Email Engine.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INTERNAL ASSESSMENT &amp; EXAMINATION (FACULTY)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Output Design 7: Continuous Internal Evaluation (CIE) Mark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1280160"/>
                <a:gridCol w="146304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Evaluation Head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Benchmark Weight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Database Column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Scaling Formula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Midterm Exam 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30.0 Marks (20%)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exam_type = 'Midterm 1'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(Score / 30) * 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Midterm Exam 2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30.0 Marks (20%)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exam_type = 'Midterm 2'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(Score / 30) * 20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Assignments / Quizzes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20.0 Marks (10%)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exam_type = 'Assignment'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(Score / 20) * 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Final Semester Exam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70.0 Marks (50%)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exam_type = 'Final Exam'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(Score / 70) * 50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566160"/>
            <a:ext cx="5486400" cy="27432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📈 CONTINUOUS INTERNAL EVALUATION SCHEME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Multi-Component Aggregate: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Combines midterms, assignments, and practical labs to evaluate continuous student growth.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Faculty Approval Workflow: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Marks remain editable during assessment window; finalized marks lock into immutable semester results.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Statistical Distribution Metrics: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Calculates batch median, standard deviation, and identifies underperforming learning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49377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019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45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1216152"/>
            <a:ext cx="4251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Faculty Mark Register &amp; CIE Ledger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45920"/>
            <a:ext cx="45720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750" b="1">
                <a:solidFill>
                  <a:srgbClr val="1A365D"/>
                </a:solidFill>
              </a:defRPr>
            </a:pPr>
            <a:r>
              <a:t>Subject: Compiler Design (MCA-105) | Faculty: Prof. Sanjaybhai Patel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675120" y="219456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640080"/>
                <a:gridCol w="640080"/>
                <a:gridCol w="640080"/>
                <a:gridCol w="731520"/>
              </a:tblGrid>
              <a:tr h="50292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8FAFC"/>
                          </a:solidFill>
                        </a:defRPr>
                      </a:pPr>
                      <a:r>
                        <a:t>Roll No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8FAFC"/>
                          </a:solidFill>
                        </a:defRPr>
                      </a:pPr>
                      <a:r>
                        <a:t>Student Name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8FAFC"/>
                          </a:solidFill>
                        </a:defRPr>
                      </a:pPr>
                      <a:r>
                        <a:t>Mid 1 (30)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8FAFC"/>
                          </a:solidFill>
                        </a:defRPr>
                      </a:pPr>
                      <a:r>
                        <a:t>Mid 2 (30)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8FAFC"/>
                          </a:solidFill>
                        </a:defRPr>
                      </a:pPr>
                      <a:r>
                        <a:t>Assign (20)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8FAFC"/>
                          </a:solidFill>
                        </a:defRPr>
                      </a:pPr>
                      <a:r>
                        <a:t>Total (100)</a:t>
                      </a:r>
                    </a:p>
                  </a:txBody>
                  <a:tcPr marL="18288" marR="18288" marT="18288" marB="18288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MCA24004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Himanshu Goswami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24.0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25.0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18.0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3182CE"/>
                          </a:solidFill>
                        </a:defRPr>
                      </a:pPr>
                      <a:r>
                        <a:t>82.0 (A)</a:t>
                      </a:r>
                    </a:p>
                  </a:txBody>
                  <a:tcPr marL="18288" marR="18288" marT="18288" marB="18288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MCA24005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Jignesh Sathavara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28.0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29.0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16A34A"/>
                          </a:solidFill>
                        </a:defRPr>
                      </a:pPr>
                      <a:r>
                        <a:t>92.0 (O)</a:t>
                      </a:r>
                    </a:p>
                  </a:txBody>
                  <a:tcPr marL="18288" marR="18288" marT="18288" marB="18288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MCA24006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Rahul Sharma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22.0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23.5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</a:defRPr>
                      </a:pPr>
                      <a:r>
                        <a:t>17.0</a:t>
                      </a:r>
                    </a:p>
                  </a:txBody>
                  <a:tcPr marL="18288" marR="18288" marT="18288" marB="18288"/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3182CE"/>
                          </a:solidFill>
                        </a:defRPr>
                      </a:pPr>
                      <a:r>
                        <a:t>76.0 (A)</a:t>
                      </a:r>
                    </a:p>
                  </a:txBody>
                  <a:tcPr marL="18288" marR="18288" marT="18288" marB="18288"/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675120" y="4389120"/>
            <a:ext cx="4572000" cy="8229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850" b="1">
                <a:solidFill>
                  <a:srgbClr val="1A365D"/>
                </a:solidFill>
              </a:defRPr>
            </a:pPr>
            <a:r>
              <a:t>📊 COHORT STATISTICAL BENCHMARKS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• Class Average: 83.3 / 100   |   Highest Score: 92.0 (Jignesh Sathavara)</a:t>
            </a:r>
            <a:br/>
            <a:r>
              <a:t>• Passing Rate: 100%   |   Grading Schema: Relative Bell Curve Compliant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SMTP EMAIL ENGINE (NOTIFICATION)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Output Design 8: Automated Transactional Email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164592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Email Notification Type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Trigger Event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Dynamic Content Injected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Delivery Mode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Account Provisioning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User creation (Admin)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Username, Temp Password, Login URL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SMTP / Mock Log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Password Reset Link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Self-service reset request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1-Hour Signed Cryptographic URL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SMTP / Mock Log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Low Attendance Alert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Attendance &lt; 75% detected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Attendance %, Course Title, Dean Warning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SMTP / Mock Log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383280"/>
            <a:ext cx="5486400" cy="29260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✉️ DUAL-TRANSPORT EMAIL ARCHITECTURE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Live SMTP Production Delivery: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Connects to Gmail / Institutional SMTP server on port 587 using TLS encryption.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Transactional Fallback Logger: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If SMTP credentials are unset or offline, writes structured emails directly to sent_emails.log.</a:t>
            </a:r>
          </a:p>
          <a:p>
            <a:pPr>
              <a:spcBef>
                <a:spcPts val="600"/>
              </a:spcBef>
            </a:pPr>
            <a:r>
              <a:rPr b="1" i="0" sz="880">
                <a:solidFill>
                  <a:srgbClr val="1A365D"/>
                </a:solidFill>
                <a:latin typeface="Segoe UI"/>
              </a:rPr>
              <a:t>• Non-Blocking Execution: </a:t>
            </a:r>
            <a:r>
              <a:rPr b="0" i="0" sz="860">
                <a:solidFill>
                  <a:srgbClr val="1E293B"/>
                </a:solidFill>
                <a:latin typeface="Segoe UI"/>
              </a:rPr>
              <a:t>Email errors are handled gracefully without aborting core database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493776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01968" y="12893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12893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4576" y="1289304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1216152"/>
            <a:ext cx="4251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System Email Dispatch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45920"/>
            <a:ext cx="45720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750" b="1">
                <a:solidFill>
                  <a:srgbClr val="1A365D"/>
                </a:solidFill>
              </a:defRPr>
            </a:pPr>
            <a:r>
              <a:t>From: Smart College Portal &lt;admin@college.edu&gt;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To: testmanstudent@college.edu (Test Manual Student)</a:t>
            </a:r>
          </a:p>
          <a:p>
            <a:pPr>
              <a:defRPr sz="750" b="1">
                <a:solidFill>
                  <a:srgbClr val="3182CE"/>
                </a:solidFill>
              </a:defRPr>
            </a:pPr>
            <a:r>
              <a:t>Subject: Smart College Portal - Account Access Credentials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560320"/>
            <a:ext cx="4572000" cy="35661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>
              <a:defRPr sz="780">
                <a:solidFill>
                  <a:srgbClr val="1E293B"/>
                </a:solidFill>
              </a:defRPr>
            </a:pPr>
            <a:r>
              <a:t>Hello Test Manual Student,</a:t>
            </a:r>
            <a:br/>
            <a:br/>
            <a:r>
              <a:t>Your account on the Smart College Analytics System has been provisioned.</a:t>
            </a:r>
            <a:br/>
            <a:br/>
            <a:r>
              <a:t>Portal Access Credentials:</a:t>
            </a:r>
            <a:br/>
            <a:r>
              <a:t>• Portal Role: STUDENT</a:t>
            </a:r>
            <a:br/>
            <a:r>
              <a:t>• Login ID (Email): testmanstudent@college.edu</a:t>
            </a:r>
            <a:br/>
            <a:r>
              <a:t>• Temporary Password: tempPass123</a:t>
            </a:r>
            <a:br/>
            <a:br/>
            <a:r>
              <a:t>⚠️ IMPORTANT NOTICE:</a:t>
            </a:r>
            <a:br/>
            <a:r>
              <a:t>This is a temporary system password. You are kindly requested to log in and change your password immediately upon first access.</a:t>
            </a:r>
            <a:br/>
            <a:br/>
            <a:r>
              <a:t>Best regards,</a:t>
            </a:r>
            <a:br/>
            <a:r>
              <a:t>Dean System Administrator</a:t>
            </a:r>
            <a:br/>
            <a:r>
              <a:t>Smart College Portal Support Team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182CE"/>
                </a:solidFill>
                <a:latin typeface="Segoe UI"/>
              </a:defRPr>
            </a:pPr>
            <a:r>
              <a:t>SYSTEM TRACEABILITY &amp; INTEGRATION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Master Traceability Matrix: Input Forms, Database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| Input &amp; Output Design Specification | Master of Computer Applications (MCA)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2468880"/>
                <a:gridCol w="2377440"/>
              </a:tblGrid>
              <a:tr h="357447"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Subsystem / Screen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Input Controls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Underlying Database Table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Validation &amp; Business Rules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Generated Output Deliverable</a:t>
                      </a:r>
                    </a:p>
                  </a:txBody>
                  <a:tcPr anchor="ctr" marL="45720" marR="45720" marT="18288" marB="18288">
                    <a:solidFill>
                      <a:srgbClr val="1A365D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Authentication &amp; Login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Text, Masked Password, CSRF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scas_users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Scrypt hash check, RBAC routing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Role-directed portal dashboard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Password Recovery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Email, URL Token, New Pass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scas_users, itsdangerous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1-hr TTL signed URL token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Transactional reset email &amp; confirmation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User Account Manager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Single form &amp; Multi-CSV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scas_users, profiles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Unique username/email, atomic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Roster table &amp; credential emails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Curriculum Manager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Course/Batch/Subject Select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scas_courses, batches, sub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Code uniqueness, cascade FKs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Course catalog &amp; timetable slots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Attendance Register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Subject select, Date, Toggles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scas_attendance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Composite unique date check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Defaulter list (&lt;75%) &amp; export CSV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Marks Entry (CIE)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Exam Type, Max marks, Score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scas_marks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0.0 &lt;= score &lt;= max_marks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CIE mark register &amp; grade distribution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Lecture Timetable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Day, Time interval, Room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scas_schedules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Room &amp; faculty collision guards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Weekly schedule matrix grid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Fee Payment Gateway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Amount, Payment mode, UPI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scas_fee_payments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Idempotent TXN ID, no-dues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Printable fee receipt &amp; hall ticket release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Leave Workflow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Type, Date range, Reason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scas_leave_applications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start_date &lt;= end_date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Approval history &amp; attendance waiver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Unit Diagnostic Quiz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>
                          <a:solidFill>
                            <a:srgbClr val="4338CA"/>
                          </a:solidFill>
                          <a:latin typeface="Segoe UI"/>
                        </a:defRPr>
                      </a:pPr>
                      <a:r>
                        <a:t>25 Multiple-Choice Radios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80">
                          <a:solidFill>
                            <a:srgbClr val="1D4ED8"/>
                          </a:solidFill>
                          <a:latin typeface="Consolas"/>
                        </a:defRPr>
                      </a:pPr>
                      <a:r>
                        <a:t>scas_test_assessments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Auto-grading, mastery scale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Learning growth delta &amp; score summary</a:t>
                      </a:r>
                    </a:p>
                  </a:txBody>
                  <a:tcPr anchor="ctr" marL="45720" marR="45720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🎓 ACADEMIC PROJECT DEFENSE SUMMARY &amp; ARCHITECTURAL HIGHLIGHTS</a:t>
            </a:r>
          </a:p>
          <a:p>
            <a:pPr>
              <a:spcBef>
                <a:spcPts val="400"/>
              </a:spcBef>
            </a:pPr>
            <a:r>
              <a:rPr b="1" i="0" sz="900">
                <a:solidFill>
                  <a:srgbClr val="1A365D"/>
                </a:solidFill>
                <a:latin typeface="Segoe UI"/>
              </a:rPr>
              <a:t>• Comprehensive Traceability: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Every single user input correlates strictly to relational entities in scas_db and produces validated, multi-channel outputs. </a:t>
            </a:r>
            <a:r>
              <a:rPr b="1" i="0" sz="900">
                <a:solidFill>
                  <a:srgbClr val="3182CE"/>
                </a:solidFill>
                <a:latin typeface="Segoe UI"/>
              </a:rPr>
              <a:t>• Robust Security: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OWASP compliance via Scrypt hashing, role isolation decorators, CSRF mitigation, and transactional rollback. </a:t>
            </a:r>
            <a:r>
              <a:rPr b="1" i="0" sz="900">
                <a:solidFill>
                  <a:srgbClr val="16A34A"/>
                </a:solidFill>
                <a:latin typeface="Segoe UI"/>
              </a:rPr>
              <a:t>• Decision Intelligence: </a:t>
            </a:r>
            <a:r>
              <a:rPr b="0" i="0" sz="880">
                <a:solidFill>
                  <a:srgbClr val="1E293B"/>
                </a:solidFill>
                <a:latin typeface="Segoe UI"/>
              </a:rPr>
              <a:t>Empowers institutional leaders and faculty with predictive analytics to proactively combat student academic attrition.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