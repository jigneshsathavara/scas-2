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Segoe UI"/>
              </a:defRPr>
            </a:pPr>
            <a:r>
              <a:t>SMART COLLEGE ANALYTICS SYSTEM</a:t>
            </a:r>
          </a:p>
          <a:p>
            <a:pPr>
              <a:defRPr sz="2000">
                <a:solidFill>
                  <a:srgbClr val="3182CE"/>
                </a:solidFill>
                <a:latin typeface="Segoe UI"/>
              </a:defRPr>
            </a:pPr>
            <a:r>
              <a:t>(SCAS) - MCA Continuous Assessment &amp; Academic Analytics Platform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931920"/>
            <a:ext cx="10362895" cy="36576"/>
          </a:xfrm>
          <a:prstGeom prst="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297680"/>
            <a:ext cx="103628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  <a:latin typeface="Segoe UI"/>
              </a:defRPr>
            </a:pPr>
            <a:r>
              <a:t>A Project Presentation Submitted for Master of Computer Applications (MCA)</a:t>
            </a:r>
          </a:p>
          <a:p>
            <a:pPr>
              <a:defRPr sz="1400" b="1">
                <a:solidFill>
                  <a:srgbClr val="F8FAFC"/>
                </a:solidFill>
                <a:latin typeface="Segoe UI"/>
              </a:defRPr>
            </a:pPr>
            <a:r>
              <a:t>Department of Computer Science &amp; Applications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3182CE"/>
                </a:solidFill>
                <a:latin typeface="Segoe UI"/>
              </a:defRPr>
            </a:pPr>
            <a:r>
              <a:t>1.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69848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1. INTRODUCTION &amp;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Smart College Analytics System (SCAS) | Department of Computer Science &amp; Applications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A365D"/>
                </a:solidFill>
              </a:defRPr>
            </a:pPr>
            <a:r>
              <a:t>About Smart College Analytics System (SCAS):</a:t>
            </a:r>
          </a:p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</a:defRPr>
            </a:pPr>
            <a:r>
              <a:t>• The Smart College Analytics System (SCAS) is an enterprise-grade higher education ERP (Enterprise Resource Planning) and continuous assessment analytics portal.</a:t>
            </a:r>
          </a:p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</a:defRPr>
            </a:pPr>
            <a:r>
              <a:t>• It provides a multi-tenant, role-based ecosystem designed to streamline academic administrative operations for Administrators, Faculty Members, and Students.</a:t>
            </a:r>
          </a:p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</a:defRPr>
            </a:pPr>
            <a:r>
              <a:t>• SCAS bridges manual attendance registers, internal mark calculations, fee collection tracking, leave requests, and placement readiness into a unified digital dashboard.</a:t>
            </a:r>
          </a:p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</a:defRPr>
            </a:pPr>
            <a:r>
              <a:t>• Goal of the System: To digitalize academic tracking, eliminate administrative delays, provide real-time performance analytics, and enhance overall institutional efficiency.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3182CE"/>
                </a:solidFill>
                <a:latin typeface="Segoe UI"/>
              </a:defRPr>
            </a:pPr>
            <a:r>
              <a:t>1.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69848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1.1 Project Profile &amp; 1.2 About the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Smart College Analytics System (SCAS) | Department of Computer Science &amp; Applications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212080" cy="4754880"/>
          </a:xfrm>
          <a:prstGeom prst="roundRect">
            <a:avLst/>
          </a:prstGeom>
          <a:solidFill>
            <a:srgbClr val="F1F5F9"/>
          </a:solidFill>
          <a:ln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defRPr sz="1800" b="1">
                <a:solidFill>
                  <a:srgbClr val="1A365D"/>
                </a:solidFill>
              </a:defRPr>
            </a:pPr>
            <a:r>
              <a:t>1.1 Project Profile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1A365D"/>
                </a:solidFill>
              </a:rPr>
              <a:t>• Project Title: </a:t>
            </a:r>
            <a:r>
              <a:rPr sz="1200">
                <a:solidFill>
                  <a:srgbClr val="1E293B"/>
                </a:solidFill>
              </a:rPr>
              <a:t>Smart College Analytics System (SCAS)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1A365D"/>
                </a:solidFill>
              </a:rPr>
              <a:t>• Project Type: </a:t>
            </a:r>
            <a:r>
              <a:rPr sz="1200">
                <a:solidFill>
                  <a:srgbClr val="1E293B"/>
                </a:solidFill>
              </a:rPr>
              <a:t>Web-based Education ERP &amp; Analytics Portal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1A365D"/>
                </a:solidFill>
              </a:rPr>
              <a:t>• Course / Level: </a:t>
            </a:r>
            <a:r>
              <a:rPr sz="1200">
                <a:solidFill>
                  <a:srgbClr val="1E293B"/>
                </a:solidFill>
              </a:rPr>
              <a:t>Master of Computer Applications (MCA - PS3)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1A365D"/>
                </a:solidFill>
              </a:rPr>
              <a:t>• Front-End Tech: </a:t>
            </a:r>
            <a:r>
              <a:rPr sz="1200">
                <a:solidFill>
                  <a:srgbClr val="1E293B"/>
                </a:solidFill>
              </a:rPr>
              <a:t>React 19, TypeScript, Vite, Tailwind CSS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1A365D"/>
                </a:solidFill>
              </a:rPr>
              <a:t>• Back-End Tech: </a:t>
            </a:r>
            <a:r>
              <a:rPr sz="1200">
                <a:solidFill>
                  <a:srgbClr val="1E293B"/>
                </a:solidFill>
              </a:rPr>
              <a:t>Python 3.x, Flask Framework, SQLAlchemy ORM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1A365D"/>
                </a:solidFill>
              </a:rPr>
              <a:t>• Database: </a:t>
            </a:r>
            <a:r>
              <a:rPr sz="1200">
                <a:solidFill>
                  <a:srgbClr val="1E293B"/>
                </a:solidFill>
              </a:rPr>
              <a:t>MySQL / SQLite Relational Database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1A365D"/>
                </a:solidFill>
              </a:rPr>
              <a:t>• Primary Users: </a:t>
            </a:r>
            <a:r>
              <a:rPr sz="1200">
                <a:solidFill>
                  <a:srgbClr val="1E293B"/>
                </a:solidFill>
              </a:rPr>
              <a:t>Administrator, Faculty, and Students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F1F5F9"/>
          </a:solidFill>
          <a:ln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defRPr sz="1800" b="1">
                <a:solidFill>
                  <a:srgbClr val="1A365D"/>
                </a:solidFill>
              </a:defRPr>
            </a:pPr>
            <a:r>
              <a:t>1.2 About the Organization</a:t>
            </a:r>
          </a:p>
          <a:p>
            <a:pPr>
              <a:spcAft>
                <a:spcPts val="1000"/>
              </a:spcAft>
              <a:defRPr sz="1200">
                <a:solidFill>
                  <a:srgbClr val="1E293B"/>
                </a:solidFill>
              </a:defRPr>
            </a:pPr>
            <a:r>
              <a:t>• Academic Institution: Department of Computer Science &amp; Applications / Higher Education College.</a:t>
            </a:r>
          </a:p>
          <a:p>
            <a:pPr>
              <a:spcAft>
                <a:spcPts val="1000"/>
              </a:spcAft>
              <a:defRPr sz="1200">
                <a:solidFill>
                  <a:srgbClr val="1E293B"/>
                </a:solidFill>
              </a:defRPr>
            </a:pPr>
            <a:r>
              <a:t>• Focus Area: Delivering quality postgraduate computer education, continuous assessment, and research excellence.</a:t>
            </a:r>
          </a:p>
          <a:p>
            <a:pPr>
              <a:spcAft>
                <a:spcPts val="1000"/>
              </a:spcAft>
              <a:defRPr sz="1200">
                <a:solidFill>
                  <a:srgbClr val="1E293B"/>
                </a:solidFill>
              </a:defRPr>
            </a:pPr>
            <a:r>
              <a:t>• Digital Transformation: Transitioning from manual paper-based record-keeping to a automated, cloud-ready digital infrastructure.</a:t>
            </a:r>
          </a:p>
          <a:p>
            <a:pPr>
              <a:spcAft>
                <a:spcPts val="1000"/>
              </a:spcAft>
              <a:defRPr sz="1200">
                <a:solidFill>
                  <a:srgbClr val="1E293B"/>
                </a:solidFill>
              </a:defRPr>
            </a:pPr>
            <a:r>
              <a:t>• Commitment: Enhancing student career readiness through placement aptitude tracking, transparent fee monitoring, and real-time faculty-student interaction.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3182CE"/>
                </a:solidFill>
                <a:latin typeface="Segoe UI"/>
              </a:defRPr>
            </a:pPr>
            <a:r>
              <a:t>2. SYSTEM STUDY AND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69848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2.1 Problem Statement &amp; 2.2 Existing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Smart College Analytics System (SCAS) | Department of Computer Science &amp; Applications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212080" cy="4754880"/>
          </a:xfrm>
          <a:prstGeom prst="roundRect">
            <a:avLst/>
          </a:prstGeom>
          <a:solidFill>
            <a:srgbClr val="FEF2F2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defRPr sz="1800" b="1">
                <a:solidFill>
                  <a:srgbClr val="B91C1C"/>
                </a:solidFill>
              </a:defRPr>
            </a:pPr>
            <a:r>
              <a:t>2.1 Problem Statement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Academic institutions face severe inefficiencies due to fragmented, paper-based administrative operations.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Manual calculation of internal marks, midterms, and GPAs leads to high error rates and delayed grade sheets.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Lack of real-time attendance monitoring results in undetected attendance shortages (&lt;75%) until end-semester.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Student fee management relies on physical ledgers and offline counters, causing long queues and payment tracking delays.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Leave and duty applications rely on physical paper forms, leading to lost requests and delayed approvals.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FEF2F2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defRPr sz="1800" b="1">
                <a:solidFill>
                  <a:srgbClr val="B91C1C"/>
                </a:solidFill>
              </a:defRPr>
            </a:pPr>
            <a:r>
              <a:t>2.2 Existing System &amp; 2.2.1 Drawbacks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Existing Approach: Paper registers, isolated Excel spreadsheets, physical notice boards, and separate offline fee counters.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Drawback 1: Data Redundancy &amp; Inconsistency across departments.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Drawback 2: High Administrative Overhead and human calculation errors.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Drawback 3: No Centralized Analytics or visual graphs for student progress tracking.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Drawback 4: Delayed Communication for notices, password resets, and fee dues.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Drawback 5: Lack of Career Preparation integration like mock aptitude tests.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3182CE"/>
                </a:solidFill>
                <a:latin typeface="Segoe UI"/>
              </a:defRPr>
            </a:pPr>
            <a:r>
              <a:t>2. SYSTEM STUDY AND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69848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2.3 Proposed System &amp; 2.3.1 Comparison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Smart College Analytics System (SCAS) | Department of Computer Science &amp; Applications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371600"/>
          <a:ext cx="1069848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4114800"/>
                <a:gridCol w="4114800"/>
              </a:tblGrid>
              <a:tr h="679268"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8FAFC"/>
                          </a:solidFill>
                        </a:defRPr>
                      </a:pPr>
                      <a:r>
                        <a:t>Feature / Aspect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8FAFC"/>
                          </a:solidFill>
                        </a:defRPr>
                      </a:pPr>
                      <a:r>
                        <a:t>Existing Manual System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8FAFC"/>
                          </a:solidFill>
                        </a:defRPr>
                      </a:pPr>
                      <a:r>
                        <a:t>Proposed SCAS Platform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365D"/>
                          </a:solidFill>
                        </a:defRPr>
                      </a:pPr>
                      <a:r>
                        <a:t>Attendance Tracking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Paper registers, manual tallying at end of semester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Real-time session marking with automated low-attendance warnings (&lt;75%)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365D"/>
                          </a:solidFill>
                        </a:defRPr>
                      </a:pPr>
                      <a:r>
                        <a:t>Mark &amp; GPA Processing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Manual Excel sheets, error-prone grade calculation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Automatic SGPA/CGPA computation with dynamic Chart.js analytics graphs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365D"/>
                          </a:solidFill>
                        </a:defRPr>
                      </a:pPr>
                      <a:r>
                        <a:t>Notice Board &amp; Alerts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Physical paper flyers pinned on college walls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Digital Notice Board with instant pinned notices and SMTP email alerts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365D"/>
                          </a:solidFill>
                        </a:defRPr>
                      </a:pPr>
                      <a:r>
                        <a:t>Leave &amp; Duty Requests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Physical written letters submitted manually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Multi-tier online leave application submission and real-time faculty approval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365D"/>
                          </a:solidFill>
                        </a:defRPr>
                      </a:pPr>
                      <a:r>
                        <a:t>Fee &amp; Payment Dues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Manual ledger books and separate offline counter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Real-time fee status tracking (Paid/Pending) with auto-generated receipt numbers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927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365D"/>
                          </a:solidFill>
                        </a:defRPr>
                      </a:pPr>
                      <a:r>
                        <a:t>Placement &amp; Aptitude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No integrated system for placement preparation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Built-in mock placement aptitude test engine with instant scoreboards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3182CE"/>
                </a:solidFill>
                <a:latin typeface="Segoe UI"/>
              </a:defRPr>
            </a:pPr>
            <a:r>
              <a:t>2. SYSTEM STUDY AND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69848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2.3.2 System Modules Breakdown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Smart College Analytics System (SCAS) | Department of Computer Science &amp; Applications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</a:pPr>
            <a:r>
              <a:rPr b="1" sz="1300">
                <a:solidFill>
                  <a:srgbClr val="1A365D"/>
                </a:solidFill>
              </a:rPr>
              <a:t>1. Auth &amp; Security Module: </a:t>
            </a:r>
            <a:r>
              <a:rPr sz="1200">
                <a:solidFill>
                  <a:srgbClr val="1E293B"/>
                </a:solidFill>
              </a:rPr>
              <a:t>Role-Based Access Control (RBAC) with password hashing (Werkzeug) and session handling for Admin, Faculty, and Students.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1A365D"/>
                </a:solidFill>
              </a:rPr>
              <a:t>2. Admin Management Module: </a:t>
            </a:r>
            <a:r>
              <a:rPr sz="1200">
                <a:solidFill>
                  <a:srgbClr val="1E293B"/>
                </a:solidFill>
              </a:rPr>
              <a:t>Central dashboard for managing student/faculty profiles, generating credentials, publishing notices, and fee tracking.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1A365D"/>
                </a:solidFill>
              </a:rPr>
              <a:t>3. Faculty Management Module: </a:t>
            </a:r>
            <a:r>
              <a:rPr sz="1200">
                <a:solidFill>
                  <a:srgbClr val="1E293B"/>
                </a:solidFill>
              </a:rPr>
              <a:t>Subject allocation, real-time daily attendance marker, internal marks upload engine, and leave application approval workflow.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1A365D"/>
                </a:solidFill>
              </a:rPr>
              <a:t>4. Student Portal Module: </a:t>
            </a:r>
            <a:r>
              <a:rPr sz="1200">
                <a:solidFill>
                  <a:srgbClr val="1E293B"/>
                </a:solidFill>
              </a:rPr>
              <a:t>Academic dashboard, SGPA/CGPA grade sheets, subject attendance logs, performance analytics charts, and leave requests.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1A365D"/>
                </a:solidFill>
              </a:rPr>
              <a:t>5. Fee &amp; Payment Module: </a:t>
            </a:r>
            <a:r>
              <a:rPr sz="1200">
                <a:solidFill>
                  <a:srgbClr val="1E293B"/>
                </a:solidFill>
              </a:rPr>
              <a:t>Tracks tuition payments, updates payment status ('Paid'/'Pending'), and generates unique transaction receipts.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1A365D"/>
                </a:solidFill>
              </a:rPr>
              <a:t>6. Placement &amp; Aptitude Module: </a:t>
            </a:r>
            <a:r>
              <a:rPr sz="1200">
                <a:solidFill>
                  <a:srgbClr val="1E293B"/>
                </a:solidFill>
              </a:rPr>
              <a:t>Mock aptitude exam engine allowing faculty to create tests and students to practice for placement drives.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1A365D"/>
                </a:solidFill>
              </a:rPr>
              <a:t>7. Email &amp; Notification Engine: </a:t>
            </a:r>
            <a:r>
              <a:rPr sz="1200">
                <a:solidFill>
                  <a:srgbClr val="1E293B"/>
                </a:solidFill>
              </a:rPr>
              <a:t>SMTP integration sending welcome credentials, temporary password resets, and alert notifications.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3182CE"/>
                </a:solidFill>
                <a:latin typeface="Segoe UI"/>
              </a:defRPr>
            </a:pPr>
            <a:r>
              <a:t>3. DEVELOPMENT ENVIRONMENT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69848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3.1 Hardware &amp; 3.2 Software Requirements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Smart College Analytics System (SCAS) | Department of Computer Science &amp; Applications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212080" cy="4754880"/>
          </a:xfrm>
          <a:prstGeom prst="roundRect">
            <a:avLst/>
          </a:prstGeom>
          <a:solidFill>
            <a:srgbClr val="F1F5F9"/>
          </a:solidFill>
          <a:ln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defRPr sz="1800" b="1">
                <a:solidFill>
                  <a:srgbClr val="1A365D"/>
                </a:solidFill>
              </a:defRPr>
            </a:pPr>
            <a:r>
              <a:t>3.1 Hardware Requirements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1A365D"/>
                </a:solidFill>
              </a:rPr>
              <a:t>• Processor: </a:t>
            </a:r>
            <a:r>
              <a:rPr sz="1200">
                <a:solidFill>
                  <a:srgbClr val="1E293B"/>
                </a:solidFill>
              </a:rPr>
              <a:t>Intel Core i3 / i5 / AMD Ryzen 5 (2.0 GHz or higher)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1A365D"/>
                </a:solidFill>
              </a:rPr>
              <a:t>• RAM: </a:t>
            </a:r>
            <a:r>
              <a:rPr sz="1200">
                <a:solidFill>
                  <a:srgbClr val="1E293B"/>
                </a:solidFill>
              </a:rPr>
              <a:t>Minimum 4 GB (8 GB recommended for optimal performance)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1A365D"/>
                </a:solidFill>
              </a:rPr>
              <a:t>• Storage / Hard Disk: </a:t>
            </a:r>
            <a:r>
              <a:rPr sz="1200">
                <a:solidFill>
                  <a:srgbClr val="1E293B"/>
                </a:solidFill>
              </a:rPr>
              <a:t>Minimum 20 GB available SSD / HDD storage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1A365D"/>
                </a:solidFill>
              </a:rPr>
              <a:t>• Display: </a:t>
            </a:r>
            <a:r>
              <a:rPr sz="1200">
                <a:solidFill>
                  <a:srgbClr val="1E293B"/>
                </a:solidFill>
              </a:rPr>
              <a:t>1366 x 768 minimum resolution (1920 x 1080 recommended)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1A365D"/>
                </a:solidFill>
              </a:rPr>
              <a:t>• Network: </a:t>
            </a:r>
            <a:r>
              <a:rPr sz="1200">
                <a:solidFill>
                  <a:srgbClr val="1E293B"/>
                </a:solidFill>
              </a:rPr>
              <a:t>Standard LAN / Wi-Fi internet connectivity for SMTP &amp; client access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F1F5F9"/>
          </a:solidFill>
          <a:ln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defRPr sz="1800" b="1">
                <a:solidFill>
                  <a:srgbClr val="1A365D"/>
                </a:solidFill>
              </a:defRPr>
            </a:pPr>
            <a:r>
              <a:t>3.2 Software Requirements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1A365D"/>
                </a:solidFill>
              </a:rPr>
              <a:t>• Operating System: </a:t>
            </a:r>
            <a:r>
              <a:rPr sz="1200">
                <a:solidFill>
                  <a:srgbClr val="1E293B"/>
                </a:solidFill>
              </a:rPr>
              <a:t>Windows 10 / 11, Linux (Ubuntu/Debian), or macOS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1A365D"/>
                </a:solidFill>
              </a:rPr>
              <a:t>• Web Server: </a:t>
            </a:r>
            <a:r>
              <a:rPr sz="1200">
                <a:solidFill>
                  <a:srgbClr val="1E293B"/>
                </a:solidFill>
              </a:rPr>
              <a:t>Flask WSGI Server / Gunicorn (Production)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1A365D"/>
                </a:solidFill>
              </a:rPr>
              <a:t>• Runtime Environments: </a:t>
            </a:r>
            <a:r>
              <a:rPr sz="1200">
                <a:solidFill>
                  <a:srgbClr val="1E293B"/>
                </a:solidFill>
              </a:rPr>
              <a:t>Python 3.10+ and Node.js v18+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1A365D"/>
                </a:solidFill>
              </a:rPr>
              <a:t>• Database Server: </a:t>
            </a:r>
            <a:r>
              <a:rPr sz="1200">
                <a:solidFill>
                  <a:srgbClr val="1E293B"/>
                </a:solidFill>
              </a:rPr>
              <a:t>MySQL Server 8.0 (via XAMPP/WAMP) or SQLite3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1A365D"/>
                </a:solidFill>
              </a:rPr>
              <a:t>• Development Tools: </a:t>
            </a:r>
            <a:r>
              <a:rPr sz="1200">
                <a:solidFill>
                  <a:srgbClr val="1E293B"/>
                </a:solidFill>
              </a:rPr>
              <a:t>VS Code, Git, Postman, Vite CLI Engine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1A365D"/>
                </a:solidFill>
              </a:rPr>
              <a:t>• Web Browser: </a:t>
            </a:r>
            <a:r>
              <a:rPr sz="1200">
                <a:solidFill>
                  <a:srgbClr val="1E293B"/>
                </a:solidFill>
              </a:rPr>
              <a:t>Google Chrome, Microsoft Edge, Mozilla Firefox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3182CE"/>
                </a:solidFill>
                <a:latin typeface="Segoe UI"/>
              </a:defRPr>
            </a:pPr>
            <a:r>
              <a:t>3. DEVELOPMENT ENVIRONMENT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69848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3.3 Programming Environment (Front-End &amp; Back-End)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Smart College Analytics System (SCAS) | Department of Computer Science &amp; Applications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212080" cy="4754880"/>
          </a:xfrm>
          <a:prstGeom prst="roundRect">
            <a:avLst/>
          </a:prstGeom>
          <a:solidFill>
            <a:srgbClr val="F1F5F9"/>
          </a:solidFill>
          <a:ln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defRPr sz="1800" b="1">
                <a:solidFill>
                  <a:srgbClr val="1A365D"/>
                </a:solidFill>
              </a:defRPr>
            </a:pPr>
            <a:r>
              <a:t>3.3.1 About Front-End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1A365D"/>
                </a:solidFill>
              </a:rPr>
              <a:t>• React 19 &amp; TypeScript: </a:t>
            </a:r>
            <a:r>
              <a:rPr sz="1100">
                <a:solidFill>
                  <a:srgbClr val="1E293B"/>
                </a:solidFill>
              </a:rPr>
              <a:t>Component-based Single Page Application (SPA) architecture offering strict type safety and modular components.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1A365D"/>
                </a:solidFill>
              </a:rPr>
              <a:t>• Vite Build Engine: </a:t>
            </a:r>
            <a:r>
              <a:rPr sz="1100">
                <a:solidFill>
                  <a:srgbClr val="1E293B"/>
                </a:solidFill>
              </a:rPr>
              <a:t>Blazing fast Hot Module Replacement (HMR) development server and optimized bundle generator.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1A365D"/>
                </a:solidFill>
              </a:rPr>
              <a:t>• Tailwind CSS: </a:t>
            </a:r>
            <a:r>
              <a:rPr sz="1100">
                <a:solidFill>
                  <a:srgbClr val="1E293B"/>
                </a:solidFill>
              </a:rPr>
              <a:t>Utility-first CSS framework enabling dark mode glassmorphism, responsive grid layouts, and custom animations.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1A365D"/>
                </a:solidFill>
              </a:rPr>
              <a:t>• Chart.js &amp; react-chartjs-2: </a:t>
            </a:r>
            <a:r>
              <a:rPr sz="1100">
                <a:solidFill>
                  <a:srgbClr val="1E293B"/>
                </a:solidFill>
              </a:rPr>
              <a:t>Dynamic interactive charts displaying GPA progression, attendance distribution, and subject breakdowns.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1A365D"/>
                </a:solidFill>
              </a:rPr>
              <a:t>• Lucide React Icons: </a:t>
            </a:r>
            <a:r>
              <a:rPr sz="1100">
                <a:solidFill>
                  <a:srgbClr val="1E293B"/>
                </a:solidFill>
              </a:rPr>
              <a:t>Modern vector iconography providing clean UI controls across all portal views.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F1F5F9"/>
          </a:solidFill>
          <a:ln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defRPr sz="1800" b="1">
                <a:solidFill>
                  <a:srgbClr val="1A365D"/>
                </a:solidFill>
              </a:defRPr>
            </a:pPr>
            <a:r>
              <a:t>3.3.2 About Back-End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1A365D"/>
                </a:solidFill>
              </a:rPr>
              <a:t>• Python 3.x &amp; Flask: </a:t>
            </a:r>
            <a:r>
              <a:rPr sz="1100">
                <a:solidFill>
                  <a:srgbClr val="1E293B"/>
                </a:solidFill>
              </a:rPr>
              <a:t>Lightweight, extensible WSGI web server framework handling REST API routes and blueprint controllers.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1A365D"/>
                </a:solidFill>
              </a:rPr>
              <a:t>• Flask-SQLAlchemy (ORM): </a:t>
            </a:r>
            <a:r>
              <a:rPr sz="1100">
                <a:solidFill>
                  <a:srgbClr val="1E293B"/>
                </a:solidFill>
              </a:rPr>
              <a:t>Object-Relational Mapping library translating Python model classes into MySQL/SQLite SQL queries.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1A365D"/>
                </a:solidFill>
              </a:rPr>
              <a:t>• MySQL Database: </a:t>
            </a:r>
            <a:r>
              <a:rPr sz="1100">
                <a:solidFill>
                  <a:srgbClr val="1E293B"/>
                </a:solidFill>
              </a:rPr>
              <a:t>Relational database storing 12 normalized tables with primary keys, foreign key constraints, and cascade rules.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1A365D"/>
                </a:solidFill>
              </a:rPr>
              <a:t>• Werkzeug Security: </a:t>
            </a:r>
            <a:r>
              <a:rPr sz="1100">
                <a:solidFill>
                  <a:srgbClr val="1E293B"/>
                </a:solidFill>
              </a:rPr>
              <a:t>Secure password hashing (generate_password_hash) and checking for safe user authentication.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1A365D"/>
                </a:solidFill>
              </a:rPr>
              <a:t>• SMTP Mail Engine: </a:t>
            </a:r>
            <a:r>
              <a:rPr sz="1100">
                <a:solidFill>
                  <a:srgbClr val="1E293B"/>
                </a:solidFill>
              </a:rPr>
              <a:t>Automated email transport service for dispatching default login credentials and password reset notifications.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3182CE"/>
                </a:solidFill>
                <a:latin typeface="Segoe UI"/>
              </a:defRPr>
            </a:pPr>
            <a:r>
              <a:t>PROJECT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69848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SUMMARY &amp;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Smart College Analytics System (SCAS) | Department of Computer Science &amp; Applications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A365D"/>
                </a:solidFill>
              </a:defRPr>
            </a:pPr>
            <a:r>
              <a:t>Project Summary &amp; Outcomes:</a:t>
            </a:r>
          </a:p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</a:defRPr>
            </a:pPr>
            <a:r>
              <a:t>✔ SCAS successfully replaces error-prone manual paper processes with an automated, multi-tenant digital ERP portal.</a:t>
            </a:r>
          </a:p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</a:defRPr>
            </a:pPr>
            <a:r>
              <a:t>✔ Real-time attendance marking and automated risk alerts (&lt;75%) empower faculty and students to take timely action.</a:t>
            </a:r>
          </a:p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</a:defRPr>
            </a:pPr>
            <a:r>
              <a:t>✔ Automatic GPA/SGPA calculation combined with Chart.js analytics provides instant insights into academic performance.</a:t>
            </a:r>
          </a:p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</a:defRPr>
            </a:pPr>
            <a:r>
              <a:t>✔ Integrated fee tracking and receipt generation streamlines financial record-keeping for administrative staff.</a:t>
            </a:r>
          </a:p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</a:defRPr>
            </a:pPr>
            <a:r>
              <a:t>✔ Built-in placement aptitude testing helps students prepare for campus recruitment drives effectively.</a:t>
            </a:r>
          </a:p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</a:defRPr>
            </a:pPr>
            <a:r>
              <a:t>✔ System diagnostic routines (verify_system.py) and database seeders ensure high reliability and easy deployment.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