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474720" cy="411480"/>
          </a:xfrm>
          <a:prstGeom prst="roundRect">
            <a:avLst/>
          </a:prstGeom>
          <a:solidFill>
            <a:srgbClr val="1A365D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182CE"/>
                </a:solidFill>
                <a:latin typeface="Segoe UI"/>
              </a:defRPr>
            </a:pPr>
            <a:r>
              <a:t>ACADEMIC SYSTEM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COMPARATIVE STUDY:</a:t>
            </a:r>
          </a:p>
          <a:p>
            <a:pPr>
              <a:defRPr sz="2400" b="1">
                <a:solidFill>
                  <a:srgbClr val="3182CE"/>
                </a:solidFill>
                <a:latin typeface="Segoe UI"/>
              </a:defRPr>
            </a:pPr>
            <a:r>
              <a:t>Legacy Manual System vs. Smart College Analytics System (SCAS)</a:t>
            </a:r>
          </a:p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A Quantitative &amp; Architectural Analysis of Higher Education Digital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14800"/>
            <a:ext cx="10362895" cy="36576"/>
          </a:xfrm>
          <a:prstGeom prst="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49377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400">
                <a:solidFill>
                  <a:srgbClr val="F87171"/>
                </a:solidFill>
              </a:defRPr>
            </a:pPr>
            <a:r>
              <a:t>[X] LEGACY TRADITIONAL SYSTEM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Paper registers &amp; fragmented Excel sheets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3-5 days delay in GPA/Attendance calculations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High human error rate &amp; zero predictive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389120"/>
            <a:ext cx="493776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b="1" sz="1400">
                <a:solidFill>
                  <a:srgbClr val="4ADE80"/>
                </a:solidFill>
              </a:defRPr>
            </a:pPr>
            <a:r>
              <a:t>[OK] SCAS PROPOSED PLATFORM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Unified Web ERP (React 19 + Flask + MySQL)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Real-time instant GPA &amp; attendance tracking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100% calculation accuracy + Aptitude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vs_old_system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as_vs_old_system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DETAILED MODULE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FEATURE-BY-FEATURE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vs Legacy System | MCA Comparative Study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280160"/>
          <a:ext cx="1069848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Evaluation Metric / Module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Legacy Traditional System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SCAS (Smart College Analytics System)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1. Attendance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Paper registers, manual tallying at term-end, no alert triggers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Real-time session logging with automated badge alerts (&lt;75%)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2. Result &amp; GPA Processing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Manual spreadsheet calculation, high latency, error-prone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Automated SGPA/CGPA computing + dynamic Chart.js analytics graphs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3. Leave &amp; On-Duty Slips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Physical paper applications, manual sign-offs, untracked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Online application portal, real-time approval, status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4. Fee Ledger Management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Physical receipt books, separate bank queues, delay in status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Centralized fee status (Paid/Pending), auto receipt generation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5. Campus Circulars &amp;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Physical notice boards, paper circulars, high notice miss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Digital Notice Board with priority pinning and SMTP email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6. Placement &amp; Skill Building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Completely unaddressed; zero assessment integration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Integrated Mock Placement Aptitude Engine with timed assessments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A365D"/>
                          </a:solidFill>
                          <a:latin typeface="Segoe UI"/>
                        </a:defRPr>
                      </a:pPr>
                      <a:r>
                        <a:t>7. Security &amp; Data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Physical ledgers vulnerable to loss, no role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RBAC security, Werkzeug password hashing, normalized 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PROCESS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STEP-BY-STEP WORKFLOW 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vs Legacy System | MCA Comparative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4688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FAFC"/>
                </a:solidFill>
              </a:defRPr>
            </a:pPr>
            <a:r>
              <a:t>1. ATTENDANCE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46888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[X] Traditional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Physical pen &amp; paper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Manual roll call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No warning if &lt;75%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2468880" cy="228600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[OK] SCAS Solution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1-Click digital portal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Real-time sync to DB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 low-attendance alert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4688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FAFC"/>
                </a:solidFill>
              </a:defRPr>
            </a:pPr>
            <a:r>
              <a:t>2. MARKS / GPA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737360"/>
            <a:ext cx="246888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[X] Traditional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End-semester Excel tally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Manual grade formulas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Risk of human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3931920"/>
            <a:ext cx="2468880" cy="228600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[OK] SCAS Solution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Instant SGPA/CGPA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Interactive visual charts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Zero calculation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4688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FAFC"/>
                </a:solidFill>
              </a:defRPr>
            </a:pPr>
            <a:r>
              <a:t>3. LEAVE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246888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[X] Traditional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Handwritten letter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Physical faculty signatures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Frequent lost requests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931920"/>
            <a:ext cx="2468880" cy="228600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[OK] SCAS Solution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Multi-tier digital submit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1-Click faculty approval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Audit trail &amp; live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468880" cy="3657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8FAFC"/>
                </a:solidFill>
              </a:defRPr>
            </a:pPr>
            <a:r>
              <a:t>4. NOTICES &amp;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737360"/>
            <a:ext cx="2468880" cy="2011680"/>
          </a:xfrm>
          <a:prstGeom prst="roundRect">
            <a:avLst/>
          </a:prstGeom>
          <a:solidFill>
            <a:srgbClr val="FEF2F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DC2626"/>
                </a:solidFill>
              </a:defRPr>
            </a:pPr>
            <a:r>
              <a:t>[X] Traditional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Paper flyers on notice board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Ignored circulars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No direct 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931920"/>
            <a:ext cx="2468880" cy="228600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 rIns="137160" wrap="square"/>
          <a:lstStyle/>
          <a:p>
            <a:pPr algn="ctr">
              <a:defRPr b="1" sz="1100">
                <a:solidFill>
                  <a:srgbClr val="16A34A"/>
                </a:solidFill>
              </a:defRPr>
            </a:pPr>
            <a:r>
              <a:t>[OK] SCAS Solution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Digital notice feed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Instant priority pinning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SMTP emails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MEASURABLE IMPACT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QUANTITATIVE PERFORMANCE METRICS &amp; EFFICIENCY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vs Legacy System | MCA Comparative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ATTENDANCE TALLY TIME</a:t>
            </a:r>
          </a:p>
          <a:p>
            <a:pPr>
              <a:defRPr b="1" sz="1200">
                <a:solidFill>
                  <a:srgbClr val="16A34A"/>
                </a:solidFill>
              </a:defRPr>
            </a:pPr>
            <a:r>
              <a:t>&gt;&gt;&gt; 99.8% Time Saved</a:t>
            </a:r>
          </a:p>
          <a:p>
            <a:r>
              <a:rPr sz="1000">
                <a:solidFill>
                  <a:srgbClr val="DC2626"/>
                </a:solidFill>
              </a:rPr>
              <a:t>Old: 3 - 5 Days per sem -&gt; </a:t>
            </a:r>
            <a:r>
              <a:rPr b="1" sz="1000">
                <a:solidFill>
                  <a:srgbClr val="16A34A"/>
                </a:solidFill>
              </a:rPr>
              <a:t>SCAS: Instant (0 sec)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Eliminates end-of-term manual counting of register books across all subjects.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GPA EVALUATION ACCURACY</a:t>
            </a:r>
          </a:p>
          <a:p>
            <a:pPr>
              <a:defRPr b="1" sz="1200">
                <a:solidFill>
                  <a:srgbClr val="16A34A"/>
                </a:solidFill>
              </a:defRPr>
            </a:pPr>
            <a:r>
              <a:t>&gt;&gt;&gt; Zero Calculation Bugs</a:t>
            </a:r>
          </a:p>
          <a:p>
            <a:r>
              <a:rPr sz="1000">
                <a:solidFill>
                  <a:srgbClr val="DC2626"/>
                </a:solidFill>
              </a:rPr>
              <a:t>Old: ~85% - 90% (human error) -&gt; </a:t>
            </a:r>
            <a:r>
              <a:rPr b="1" sz="1000">
                <a:solidFill>
                  <a:srgbClr val="16A34A"/>
                </a:solidFill>
              </a:rPr>
              <a:t>SCAS: 100% Deterministic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Automated formula processing eliminates rounding mistakes &amp; mark discrepancies.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LEAVE APPROVAL CYCLE</a:t>
            </a:r>
          </a:p>
          <a:p>
            <a:pPr>
              <a:defRPr b="1" sz="1200">
                <a:solidFill>
                  <a:srgbClr val="16A34A"/>
                </a:solidFill>
              </a:defRPr>
            </a:pPr>
            <a:r>
              <a:t>&gt;&gt;&gt; 95% Faster Approvals</a:t>
            </a:r>
          </a:p>
          <a:p>
            <a:r>
              <a:rPr sz="1000">
                <a:solidFill>
                  <a:srgbClr val="DC2626"/>
                </a:solidFill>
              </a:rPr>
              <a:t>Old: 2 - 4 Days turnaround -&gt; </a:t>
            </a:r>
            <a:r>
              <a:rPr b="1" sz="1000">
                <a:solidFill>
                  <a:srgbClr val="16A34A"/>
                </a:solidFill>
              </a:rPr>
              <a:t>SCAS: &lt; 5 Minutes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Digital notification &amp; single-click faculty review replaces physical letter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NOTICE DISSEMINATION</a:t>
            </a:r>
          </a:p>
          <a:p>
            <a:pPr>
              <a:defRPr b="1" sz="1200">
                <a:solidFill>
                  <a:srgbClr val="16A34A"/>
                </a:solidFill>
              </a:defRPr>
            </a:pPr>
            <a:r>
              <a:t>&gt;&gt;&gt; 100% Delivery Reach</a:t>
            </a:r>
          </a:p>
          <a:p>
            <a:r>
              <a:rPr sz="1000">
                <a:solidFill>
                  <a:srgbClr val="DC2626"/>
                </a:solidFill>
              </a:rPr>
              <a:t>Old: 24 - 48 Hours lag -&gt; </a:t>
            </a:r>
            <a:r>
              <a:rPr b="1" sz="1000">
                <a:solidFill>
                  <a:srgbClr val="16A34A"/>
                </a:solidFill>
              </a:rPr>
              <a:t>SCAS: Real-time + SMTP Mail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Instant notice broadcast directly to student/faculty dashboards &amp; inboxes.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84048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PAPER CONSUMPTION</a:t>
            </a:r>
          </a:p>
          <a:p>
            <a:pPr>
              <a:defRPr b="1" sz="1200">
                <a:solidFill>
                  <a:srgbClr val="16A34A"/>
                </a:solidFill>
              </a:defRPr>
            </a:pPr>
            <a:r>
              <a:t>&gt;&gt;&gt; Zero Paper Footprint</a:t>
            </a:r>
          </a:p>
          <a:p>
            <a:r>
              <a:rPr sz="1000">
                <a:solidFill>
                  <a:srgbClr val="DC2626"/>
                </a:solidFill>
              </a:rPr>
              <a:t>Old: 10,000+ Sheets / Year -&gt; </a:t>
            </a:r>
            <a:r>
              <a:rPr b="1" sz="1000">
                <a:solidFill>
                  <a:srgbClr val="16A34A"/>
                </a:solidFill>
              </a:rPr>
              <a:t>SCAS: 0 Paper (100% Digital)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Eco-friendly, paperless academic administration saving institutional costs.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840480"/>
            <a:ext cx="33832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100">
                <a:solidFill>
                  <a:srgbClr val="1A365D"/>
                </a:solidFill>
              </a:defRPr>
            </a:pPr>
            <a:r>
              <a:t>STUDENT CAREER PREP</a:t>
            </a:r>
          </a:p>
          <a:p>
            <a:pPr>
              <a:defRPr b="1" sz="1200">
                <a:solidFill>
                  <a:srgbClr val="16A34A"/>
                </a:solidFill>
              </a:defRPr>
            </a:pPr>
            <a:r>
              <a:t>&gt;&gt;&gt; Placement Ready</a:t>
            </a:r>
          </a:p>
          <a:p>
            <a:r>
              <a:rPr sz="1000">
                <a:solidFill>
                  <a:srgbClr val="DC2626"/>
                </a:solidFill>
              </a:rPr>
              <a:t>Old: Zero integrated support -&gt; </a:t>
            </a:r>
            <a:r>
              <a:rPr b="1" sz="1000">
                <a:solidFill>
                  <a:srgbClr val="16A34A"/>
                </a:solidFill>
              </a:rPr>
              <a:t>SCAS: Built-in Aptitude Engine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Direct access to domain-specific practice exams and instant performance scoring.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VALUE PROPOSITION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STAKEHOLDER BENEFITS: BEFORE VS AFTER SCAS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vs Legacy System | MCA Comparative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400">
                <a:solidFill>
                  <a:srgbClr val="1A365D"/>
                </a:solidFill>
              </a:defRPr>
            </a:pPr>
            <a:r>
              <a:t>ADMINISTRATORS</a:t>
            </a:r>
          </a:p>
          <a:p>
            <a:pPr>
              <a:spcAft>
                <a:spcPts val="800"/>
              </a:spcAft>
              <a:defRPr sz="1000" b="1">
                <a:solidFill>
                  <a:srgbClr val="3182CE"/>
                </a:solidFill>
              </a:defRPr>
            </a:pPr>
            <a:r>
              <a:t>Institutional Governance</a:t>
            </a:r>
          </a:p>
          <a:p>
            <a:pPr>
              <a:defRPr b="1" sz="1100">
                <a:solidFill>
                  <a:srgbClr val="DC2626"/>
                </a:solidFill>
              </a:defRPr>
            </a:pPr>
            <a:r>
              <a:t>[X] Before (Old System):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Manual student/faculty records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Paper-based fee reconciliations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High administrative overhead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Difficult to audit historical data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[OK] After (SCAS Platform):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Unified central admin dashboard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Instant fee dues &amp; receipt tracking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user credentials dispatch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100% auditable SQL relational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400">
                <a:solidFill>
                  <a:srgbClr val="1A365D"/>
                </a:solidFill>
              </a:defRPr>
            </a:pPr>
            <a:r>
              <a:t>FACULTY MEMBERS</a:t>
            </a:r>
          </a:p>
          <a:p>
            <a:pPr>
              <a:spcAft>
                <a:spcPts val="800"/>
              </a:spcAft>
              <a:defRPr sz="1000" b="1">
                <a:solidFill>
                  <a:srgbClr val="3182CE"/>
                </a:solidFill>
              </a:defRPr>
            </a:pPr>
            <a:r>
              <a:t>Academic Execution</a:t>
            </a:r>
          </a:p>
          <a:p>
            <a:pPr>
              <a:defRPr b="1" sz="1100">
                <a:solidFill>
                  <a:srgbClr val="DC2626"/>
                </a:solidFill>
              </a:defRPr>
            </a:pPr>
            <a:r>
              <a:t>[X] Before (Old System):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15+ minutes per session roll calling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Manual mark registers &amp; calculations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Physical leave forms processing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No instant alert for low attendance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[OK] After (SCAS Platform):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1-click digital attendance marking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Direct CSV upload for internal marks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Instant online leave approvals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Automated student shortage flags (&lt;75%)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defRPr b="1" sz="1400">
                <a:solidFill>
                  <a:srgbClr val="1A365D"/>
                </a:solidFill>
              </a:defRPr>
            </a:pPr>
            <a:r>
              <a:t>STUDENTS</a:t>
            </a:r>
          </a:p>
          <a:p>
            <a:pPr>
              <a:spcAft>
                <a:spcPts val="800"/>
              </a:spcAft>
              <a:defRPr sz="1000" b="1">
                <a:solidFill>
                  <a:srgbClr val="3182CE"/>
                </a:solidFill>
              </a:defRPr>
            </a:pPr>
            <a:r>
              <a:t>Learner Experience</a:t>
            </a:r>
          </a:p>
          <a:p>
            <a:pPr>
              <a:defRPr b="1" sz="1100">
                <a:solidFill>
                  <a:srgbClr val="DC2626"/>
                </a:solidFill>
              </a:defRPr>
            </a:pPr>
            <a:r>
              <a:t>[X] Before (Old System):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Zero visibility into attendance 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Surprise shortages during exam time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Waiting weeks for internal marks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No integrated placement prep</a:t>
            </a:r>
          </a:p>
          <a:p>
            <a:pPr>
              <a:spcBef>
                <a:spcPts val="800"/>
              </a:spcBef>
              <a:defRPr b="1" sz="1100">
                <a:solidFill>
                  <a:srgbClr val="16A34A"/>
                </a:solidFill>
              </a:defRPr>
            </a:pPr>
            <a:r>
              <a:t>[OK] After (SCAS Platform):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Real-time attendance percentage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Interactive SGPA &amp; CGPA charts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Instant online leave applications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Built-in mock placement exam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3182CE"/>
                </a:solidFill>
                <a:latin typeface="Segoe UI"/>
              </a:defRPr>
            </a:pPr>
            <a:r>
              <a:t>CONCLUSION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6984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SUMMARY &amp; STRATEGIC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Smart College Analytics System (SCAS) vs Legacy System | MCA Comparative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4937760"/>
          </a:xfrm>
          <a:prstGeom prst="roundRect">
            <a:avLst/>
          </a:prstGeom>
          <a:solidFill>
            <a:srgbClr val="EBF8FF"/>
          </a:solidFill>
          <a:ln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320040" rIns="320040"/>
          <a:lstStyle/>
          <a:p>
            <a:pPr algn="ctr">
              <a:spcAft>
                <a:spcPts val="1200"/>
              </a:spcAft>
              <a:defRPr b="1" sz="1800">
                <a:solidFill>
                  <a:srgbClr val="1A365D"/>
                </a:solidFill>
              </a:defRPr>
            </a:pPr>
            <a:r>
              <a:t>Key Conclusions from the Comparative Study: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[OK] Operational Modernization: </a:t>
            </a:r>
            <a:r>
              <a:rPr sz="1200">
                <a:solidFill>
                  <a:srgbClr val="1E293B"/>
                </a:solidFill>
              </a:rPr>
              <a:t>SCAS transforms traditional fragmented paper registers and offline spreadsheets into a unified, cloud-ready Web ERP.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[OK] Significant Time &amp; Cost Savings: </a:t>
            </a:r>
            <a:r>
              <a:rPr sz="1200">
                <a:solidFill>
                  <a:srgbClr val="1E293B"/>
                </a:solidFill>
              </a:rPr>
              <a:t>Reduces administrative calculation overhead by over 95%, eliminating paper costs and freeing faculty time for teaching.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[OK] Data Precision &amp; Transparency: </a:t>
            </a:r>
            <a:r>
              <a:rPr sz="1200">
                <a:solidFill>
                  <a:srgbClr val="1E293B"/>
                </a:solidFill>
              </a:rPr>
              <a:t>Delivers 100% calculation accuracy for SGPA/CGPA and real-time attendance percentage tracking with automated threshold alerts (&lt;75%).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[OK] Holistic Career Empowerment: </a:t>
            </a:r>
            <a:r>
              <a:rPr sz="1200">
                <a:solidFill>
                  <a:srgbClr val="1E293B"/>
                </a:solidFill>
              </a:rPr>
              <a:t>Unlike legacy administrative tools, SCAS bridges academic tracking with career readiness via integrated mock placement aptitude testing.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A365D"/>
                </a:solidFill>
              </a:rPr>
              <a:t>[OK] High Scalability &amp; Robust Architecture: </a:t>
            </a:r>
            <a:r>
              <a:rPr sz="1200">
                <a:solidFill>
                  <a:srgbClr val="1E293B"/>
                </a:solidFill>
              </a:rPr>
              <a:t>Modern 3-tier architecture (React 19 + Flask 3.0 + MySQL) ensures strict role-based access control (RBAC), data security, and seamless institutional scalability.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